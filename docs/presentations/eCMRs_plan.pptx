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66" r:id="rId17"/>
    <p:sldId id="259" r:id="rId5"/>
    <p:sldId id="260" r:id="rId6"/>
    <p:sldId id="261" r:id="rId7"/>
    <p:sldId id="263" r:id="rId8"/>
    <p:sldId id="262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50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  <Relationship Id="rId17" Type="http://schemas.openxmlformats.org/officeDocument/2006/relationships/slide" Target="slides/slide11.xml"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682034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
<Relationships xmlns="http://schemas.openxmlformats.org/package/2006/relationships"><Relationship Id="rId3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097280"/>
            <a:ext cx="4754880" cy="4754880"/>
          </a:xfrm>
          <a:prstGeom prst="ellipse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509760" y="640080"/>
            <a:ext cx="1645920" cy="1645920"/>
          </a:xfrm>
          <a:prstGeom prst="roundRect">
            <a:avLst>
              <a:gd name="adj" fmla="val 6667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icons/clip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1051560"/>
            <a:ext cx="822960" cy="822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160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PLAN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452628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CMRs plan</a:t>
            </a:r>
            <a:endParaRPr lang="en-US" sz="6000" dirty="0"/>
          </a:p>
        </p:txBody>
      </p:sp>
      <p:sp>
        <p:nvSpPr>
          <p:cNvPr id="7" name="Text 4"/>
          <p:cNvSpPr/>
          <p:nvPr/>
        </p:nvSpPr>
        <p:spPr>
          <a:xfrm>
            <a:off x="457200" y="59893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SyteLine QCS - standalone Change Management Request rebuild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1277295" cy="5943600"/>
          </a:xfrm>
          <a:prstGeom prst="roundRect">
            <a:avLst>
              <a:gd name="adj" fmla="val 184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 milestones to production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22960" y="14630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 at a glance — each phase in order.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1060704" y="2340864"/>
            <a:ext cx="0" cy="356616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68680" y="2148840"/>
            <a:ext cx="384048" cy="384048"/>
          </a:xfrm>
          <a:prstGeom prst="ellipse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" y="2148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527048" y="2093976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7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high-level outline flows to strategize the approach.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868680" y="2743200"/>
            <a:ext cx="384048" cy="384048"/>
          </a:xfrm>
          <a:prstGeom prst="ellipse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68680" y="2743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527048" y="2688336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7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every field that needs to come over in the migration.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68680" y="3337560"/>
            <a:ext cx="384048" cy="384048"/>
          </a:xfrm>
          <a:prstGeom prst="ellipse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68680" y="3337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527048" y="3282696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</a:t>
            </a:r>
            <a:endParaRPr lang="en-US" sz="17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on staging / TRN first — never directly in production.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868680" y="3931920"/>
            <a:ext cx="384048" cy="384048"/>
          </a:xfrm>
          <a:prstGeom prst="ellipse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68680" y="3931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527048" y="3877056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</a:t>
            </a:r>
            <a:endParaRPr lang="en-US" sz="17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 the staged build and run final validation before production.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868680" y="4526280"/>
            <a:ext cx="384048" cy="384048"/>
          </a:xfrm>
          <a:prstGeom prst="ellipse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68680" y="4526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527048" y="4471416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</a:t>
            </a:r>
            <a:endParaRPr lang="en-US" sz="17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to production.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868680" y="5120640"/>
            <a:ext cx="384048" cy="384048"/>
          </a:xfrm>
          <a:prstGeom prst="ellipse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68680" y="5120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527048" y="5065776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7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tests to make sure everything looks good.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868680" y="5715000"/>
            <a:ext cx="384048" cy="384048"/>
          </a:xfrm>
          <a:prstGeom prst="ellipse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68680" y="5715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527048" y="5660136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</a:t>
            </a:r>
            <a:endParaRPr lang="en-US" sz="17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weeks of optimization, working closely with the in-house team.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371600" cy="1371600"/>
          </a:xfrm>
          <a:prstGeom prst="roundRect">
            <a:avLst>
              <a:gd name="adj" fmla="val 8000"/>
            </a:avLst>
          </a:prstGeom>
          <a:solidFill>
            <a:srgbClr val="ECFDF5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icons/tar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845820"/>
            <a:ext cx="685800" cy="685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194560" y="502920"/>
            <a:ext cx="95399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2194560" y="1216152"/>
            <a:ext cx="95399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high-level outline flows to strategize the approach.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457200" y="2148840"/>
            <a:ext cx="11277295" cy="425196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822960" y="2514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actual phase flow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822960" y="2926080"/>
            <a:ext cx="1648297" cy="1828800"/>
          </a:xfrm>
          <a:prstGeom prst="roundRect">
            <a:avLst>
              <a:gd name="adj" fmla="val 443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987552" y="3090672"/>
            <a:ext cx="1319113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</a:t>
            </a:r>
            <a:endParaRPr lang="en-US" sz="14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 over confirmed requirements from cmr-project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2471257" y="2926080"/>
            <a:ext cx="320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2791297" y="2926080"/>
            <a:ext cx="1648297" cy="1828800"/>
          </a:xfrm>
          <a:prstGeom prst="roundRect">
            <a:avLst>
              <a:gd name="adj" fmla="val 443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2955889" y="3090672"/>
            <a:ext cx="1319113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A</a:t>
            </a:r>
            <a:endParaRPr lang="en-US" sz="14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model: one standalone table + IDO, zero dependencies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439595" y="2926080"/>
            <a:ext cx="320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4759635" y="2926080"/>
            <a:ext cx="1648297" cy="1828800"/>
          </a:xfrm>
          <a:prstGeom prst="roundRect">
            <a:avLst>
              <a:gd name="adj" fmla="val 443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924227" y="3090672"/>
            <a:ext cx="1319113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B</a:t>
            </a:r>
            <a:endParaRPr lang="en-US" sz="14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Form: build the eCMRs form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407932" y="2926080"/>
            <a:ext cx="320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6727972" y="2926080"/>
            <a:ext cx="1648297" cy="1828800"/>
          </a:xfrm>
          <a:prstGeom prst="roundRect">
            <a:avLst>
              <a:gd name="adj" fmla="val 443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892564" y="3090672"/>
            <a:ext cx="1319113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C</a:t>
            </a:r>
            <a:endParaRPr lang="en-US" sz="14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8376270" y="2926080"/>
            <a:ext cx="320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8696310" y="2926080"/>
            <a:ext cx="1648297" cy="1828800"/>
          </a:xfrm>
          <a:prstGeom prst="roundRect">
            <a:avLst>
              <a:gd name="adj" fmla="val 443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8860902" y="3090672"/>
            <a:ext cx="1319113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D</a:t>
            </a:r>
            <a:endParaRPr lang="en-US" sz="14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95399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1216152"/>
            <a:ext cx="95399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every field that needs to come over in the migration.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0362895" y="502920"/>
            <a:ext cx="1371600" cy="1371600"/>
          </a:xfrm>
          <a:prstGeom prst="roundRect">
            <a:avLst>
              <a:gd name="adj" fmla="val 8000"/>
            </a:avLst>
          </a:prstGeom>
          <a:solidFill>
            <a:srgbClr val="ECFDF5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icons/penc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5795" y="845820"/>
            <a:ext cx="685800" cy="685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2148840"/>
            <a:ext cx="11277295" cy="425196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822960" y="2514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field mapping — from Create Change Request 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2926080"/>
            <a:ext cx="316373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column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3986693" y="2926080"/>
            <a:ext cx="738204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carries over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822960" y="3328416"/>
            <a:ext cx="1054577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822960" y="3419856"/>
            <a:ext cx="10545775" cy="472440"/>
          </a:xfrm>
          <a:prstGeom prst="rect">
            <a:avLst/>
          </a:prstGeom>
          <a:solidFill>
            <a:srgbClr val="ECFD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932688" y="3419856"/>
            <a:ext cx="3054005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cmr_num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3986693" y="3419856"/>
            <a:ext cx="7290603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field — auto-number set in the IDO properties, increments every CMR automatically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822960" y="3892296"/>
            <a:ext cx="1054577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932688" y="3892296"/>
            <a:ext cx="3054005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 # + LOT #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3986693" y="3892296"/>
            <a:ext cx="7290603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 these are added in the notes section, but we want new fields for these commonly used field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822960" y="4364736"/>
            <a:ext cx="1054577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932688" y="4364736"/>
            <a:ext cx="3054005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+ item_description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3986693" y="4364736"/>
            <a:ext cx="7290603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combo and description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822960" y="4837176"/>
            <a:ext cx="1054577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932688" y="4837176"/>
            <a:ext cx="3054005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 + wc + descriptions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3986693" y="4837176"/>
            <a:ext cx="7290603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 and WC combos with their descriptions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22960" y="5309616"/>
            <a:ext cx="1054577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932688" y="5309616"/>
            <a:ext cx="3054005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initial_change + 5 requirement checks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3986693" y="5309616"/>
            <a:ext cx="7290603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Change plus Costing, Documentation, Material, Process, Tool/Machine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822960" y="5782056"/>
            <a:ext cx="1054577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932688" y="5782056"/>
            <a:ext cx="3054005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priority, due_date, note, reported by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3986693" y="5782056"/>
            <a:ext cx="7290603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combo, Due Date, Note, and Reported By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822960" y="6254496"/>
            <a:ext cx="1054577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371600" cy="1371600"/>
          </a:xfrm>
          <a:prstGeom prst="roundRect">
            <a:avLst>
              <a:gd name="adj" fmla="val 8000"/>
            </a:avLst>
          </a:prstGeom>
          <a:solidFill>
            <a:srgbClr val="ECFDF5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icons/wren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845820"/>
            <a:ext cx="685800" cy="685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194560" y="502920"/>
            <a:ext cx="95399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2194560" y="1216152"/>
            <a:ext cx="95399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on staging / TRN first.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457200" y="2148840"/>
            <a:ext cx="11277295" cy="425196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822960" y="2514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build steps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2926080"/>
            <a:ext cx="1054577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buSzPct val="100000"/>
              <a:buChar char="■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the </a:t>
            </a: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ue_ecmr</a:t>
            </a: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SQL table</a:t>
            </a:r>
            <a:endParaRPr lang="en-US" sz="1500" dirty="0"/>
          </a:p>
          <a:p>
            <a:pPr marL="228600" indent="-228600">
              <a:buSzPct val="100000"/>
              <a:buChar char="■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</a:t>
            </a:r>
            <a:r>
              <a:rPr lang="en-US" sz="1500" b="1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ue_ecmrs</a:t>
            </a: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IDO - properties bulk-appended from CSV</a:t>
            </a:r>
            <a:endParaRPr lang="en-US" sz="1500" dirty="0"/>
          </a:p>
          <a:p>
            <a:pPr marL="228600" indent="-228600">
              <a:buSzPct val="100000"/>
              <a:buChar char="■"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cmr_num</a:t>
            </a: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auto-number set in the IDO properties - increments every CMR</a:t>
            </a:r>
            <a:endParaRPr lang="en-US" sz="1500" dirty="0"/>
          </a:p>
          <a:p>
            <a:pPr marL="228600" indent="-228600">
              <a:spcAft>
                <a:spcPts val="1600"/>
              </a:spcAft>
              <a:buSzPct val="100000"/>
              <a:buChar char="■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checkbox cascade logic</a:t>
            </a:r>
          </a:p>
          <a:p>
            <a:pPr marL="228600" indent="-228600">
              <a:spcAft>
                <a:spcPts val="1600"/>
              </a:spcAft>
              <a:buSzPct val="100000"/>
              <a:buChar char="■"/>
            </a:pPr>
            <a:r>
              <a:rPr lang="en-US" sz="15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Syteline Tip &amp; Tricks (Review for technique on po creation)</a:t>
            </a:r>
            <a:endParaRPr lang="en-US" sz="1500" dirty="0">
              <a:solidFill>
                <a:srgbClr val="FF0000"/>
              </a:solidFill>
            </a:endParaRPr>
          </a:p>
          <a:p>
            <a:pPr marL="228600" indent="-228600">
              <a:spcAft>
                <a:spcPts val="1600"/>
              </a:spcAft>
              <a:buSzPct val="100000"/>
              <a:buChar char="■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the form XML through Form Sync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95399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Staging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1216152"/>
            <a:ext cx="95399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 the staged build and run final validation before production.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0362895" y="502920"/>
            <a:ext cx="1371600" cy="1371600"/>
          </a:xfrm>
          <a:prstGeom prst="roundRect">
            <a:avLst>
              <a:gd name="adj" fmla="val 8000"/>
            </a:avLst>
          </a:prstGeom>
          <a:solidFill>
            <a:srgbClr val="ECFDF5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icons/lay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5795" y="845820"/>
            <a:ext cx="685800" cy="685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2148840"/>
            <a:ext cx="11277295" cy="425196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822960" y="2514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staging approach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2926080"/>
            <a:ext cx="365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234440" y="2926080"/>
            <a:ext cx="101342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the SQL table, then the IDO - Use AI to build the form in XML &amp; use Form Sync for imports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22960" y="3584448"/>
            <a:ext cx="365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234440" y="3584448"/>
            <a:ext cx="101342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exports/eCMRs_v1.XML via Form Sync only after the IDO is checked in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822960" y="4242816"/>
            <a:ext cx="365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234440" y="4242816"/>
            <a:ext cx="101342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on TRN first – then in production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822960" y="4901184"/>
            <a:ext cx="365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1234440" y="4901184"/>
            <a:ext cx="101342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full TRN test checklist before go-live: create path, persistence round-trip, Requirements checkbox cascade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457200" cy="4572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Migrating the old CMR data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Phase D decision that is still open — two options on the table.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5501488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2203704"/>
            <a:ext cx="486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 the history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2587752"/>
            <a:ext cx="48614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historical CMR data from </a:t>
            </a: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rs_cmr</a:t>
            </a: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rs_crcvr</a:t>
            </a: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into the new table. Every field becomes its own real column on the standalone table, mapped per field-mapping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33008" y="1965960"/>
            <a:ext cx="5501488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553048" y="2203704"/>
            <a:ext cx="486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fresh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553048" y="2587752"/>
            <a:ext cx="48614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eCMRs goes live with new CMRs only. Legacy history stays queryable through the old screens and tables.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895344"/>
            <a:ext cx="11277295" cy="25146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22960" y="41605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to decide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2960" y="4507992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34440" y="4507992"/>
            <a:ext cx="101342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Numbering: historical rows carry their original numbers, but cmr_num auto-numbers on the IDO properties - how do the two coexist?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2960" y="5056632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34440" y="5056632"/>
            <a:ext cx="101342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2960" y="5605272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34440" y="5605272"/>
            <a:ext cx="101342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371600" cy="1371600"/>
          </a:xfrm>
          <a:prstGeom prst="roundRect">
            <a:avLst>
              <a:gd name="adj" fmla="val 8000"/>
            </a:avLst>
          </a:prstGeom>
          <a:solidFill>
            <a:srgbClr val="ECFDF5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icons/rock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845820"/>
            <a:ext cx="685800" cy="685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194560" y="502920"/>
            <a:ext cx="95399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Launch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2194560" y="1216152"/>
            <a:ext cx="95399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to production.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457200" y="2148840"/>
            <a:ext cx="11277295" cy="425196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822960" y="2514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Phase D decisions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2926080"/>
            <a:ext cx="365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234440" y="2926080"/>
            <a:ext cx="10134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eCMRs replaces </a:t>
            </a:r>
            <a:r>
              <a:rPr lang="en-US" sz="150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cmrs</a:t>
            </a: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form, create change request and change request management forms, it runs alongside it until the </a:t>
            </a:r>
            <a:r>
              <a:rPr lang="en-US" sz="150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cmrproject</a:t>
            </a: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retired once eCMRs is proven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22960" y="3703320"/>
            <a:ext cx="365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234440" y="3703320"/>
            <a:ext cx="10134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 historical CMR data from rs_cmr/rs_crcvr, or start fresh with legacy history queryable through the old screens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822960" y="4480560"/>
            <a:ext cx="365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234440" y="4480560"/>
            <a:ext cx="10134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 Create Change Request, Change Request Management, and CMRs once live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95399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1216152"/>
            <a:ext cx="95399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tests to make sure everything looks good.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0362895" y="502920"/>
            <a:ext cx="1371600" cy="1371600"/>
          </a:xfrm>
          <a:prstGeom prst="roundRect">
            <a:avLst>
              <a:gd name="adj" fmla="val 8000"/>
            </a:avLst>
          </a:prstGeom>
          <a:solidFill>
            <a:srgbClr val="ECFDF5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icons/se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5795" y="845820"/>
            <a:ext cx="685800" cy="685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199" y="2148840"/>
            <a:ext cx="11277295" cy="425196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822960" y="2514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Phase C test list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2926080"/>
            <a:ext cx="1054577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600"/>
              </a:spcAft>
              <a:buSzPct val="100000"/>
              <a:buChar char="■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new CMR end-to-end</a:t>
            </a:r>
            <a:endParaRPr lang="en-US" sz="1500" dirty="0"/>
          </a:p>
          <a:p>
            <a:pPr marL="228600" indent="-228600">
              <a:spcAft>
                <a:spcPts val="1600"/>
              </a:spcAft>
              <a:buSzPct val="100000"/>
              <a:buChar char="■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and reopen</a:t>
            </a:r>
            <a:endParaRPr lang="en-US" sz="1500" dirty="0"/>
          </a:p>
          <a:p>
            <a:pPr marL="228600" indent="-228600">
              <a:spcAft>
                <a:spcPts val="1600"/>
              </a:spcAft>
              <a:buSzPct val="100000"/>
              <a:buChar char="■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numbering has no race condition</a:t>
            </a:r>
            <a:endParaRPr lang="en-US" sz="1500" dirty="0"/>
          </a:p>
          <a:p>
            <a:pPr marL="228600" indent="-228600">
              <a:spcAft>
                <a:spcPts val="1600"/>
              </a:spcAft>
              <a:buSzPct val="100000"/>
              <a:buChar char="■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flow meets requirements</a:t>
            </a:r>
            <a:endParaRPr lang="en-US" sz="1500" dirty="0"/>
          </a:p>
          <a:p>
            <a:pPr marL="228600" indent="-228600">
              <a:spcAft>
                <a:spcPts val="1600"/>
              </a:spcAft>
              <a:buSzPct val="100000"/>
              <a:buChar char="■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all fields + lookup fields work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5486400" cy="5486400"/>
          </a:xfrm>
          <a:prstGeom prst="ellipse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601200" y="-1371600"/>
            <a:ext cx="4572000" cy="4572000"/>
          </a:xfrm>
          <a:prstGeom prst="ellipse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10048" y="502920"/>
            <a:ext cx="1371600" cy="1371600"/>
          </a:xfrm>
          <a:prstGeom prst="roundRect">
            <a:avLst>
              <a:gd name="adj" fmla="val 80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icons/gear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2948" y="845820"/>
            <a:ext cx="685800" cy="685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201168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Optimize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1371600" y="2880360"/>
            <a:ext cx="94484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weeks of optimization, working closely with the in-house team.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457200" y="3749040"/>
            <a:ext cx="11277295" cy="2651760"/>
          </a:xfrm>
          <a:prstGeom prst="roundRect">
            <a:avLst>
              <a:gd name="adj" fmla="val 413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822960" y="404164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optimization backlog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22960" y="4434840"/>
            <a:ext cx="1054577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■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and track all issues with each team using the form</a:t>
            </a:r>
          </a:p>
          <a:p>
            <a:pPr marL="228600" indent="-228600">
              <a:buSzPct val="100000"/>
              <a:buChar char="■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any bugs &amp; no critical paths are blocking us from normal work flows</a:t>
            </a:r>
          </a:p>
          <a:p>
            <a:pPr marL="228600" indent="-228600">
              <a:buSzPct val="100000"/>
              <a:buChar char="■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on procedure documentation changes </a:t>
            </a:r>
          </a:p>
          <a:p>
            <a:pPr marL="228600" indent="-228600">
              <a:buSzPct val="100000"/>
              <a:buChar char="■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procedures for manager approval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371600" cy="1371600"/>
          </a:xfrm>
          <a:prstGeom prst="roundRect">
            <a:avLst>
              <a:gd name="adj" fmla="val 8000"/>
            </a:avLst>
          </a:prstGeom>
          <a:solidFill>
            <a:srgbClr val="ECFDF5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icons/ta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" y="845820"/>
            <a:ext cx="685800" cy="685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194560" y="502920"/>
            <a:ext cx="95399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current CMR process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2194560" y="1216152"/>
            <a:ext cx="95399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Change Request → Change Request Management → CMR — the three-form workflow today.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457200" y="2148840"/>
            <a:ext cx="11277295" cy="425196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822960" y="2514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current process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2926080"/>
            <a:ext cx="10545775" cy="33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■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emails a PIR (Job, Serial #, Top Level PN, Sub Assembly PN, Part, Issue); Jasmine decides </a:t>
            </a: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CMR</a:t>
            </a: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vs. </a:t>
            </a: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TRR</a:t>
            </a: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vs. </a:t>
            </a: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</a:t>
            </a: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based on the issue.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■"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Change Request</a:t>
            </a: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Priority, Initial Change, Requested By.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■"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Request Management</a:t>
            </a: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everything’s already filled in — she just grabs the CMR Number it generated.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■"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CMR Form</a:t>
            </a: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assign engineering, pull Item/Revision from the drawing books, Disposition starts </a:t>
            </a: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Hold</a:t>
            </a: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RCA notes copied from the intake email (Serial #/LOT # currently get copied into the Notes here too).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■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Save, notify engineering (follow up after 24 hrs), then send the CMR Number back to the requester.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709</Words>
  <Application>Microsoft Office PowerPoint</Application>
  <PresentationFormat>Widescreen</PresentationFormat>
  <Paragraphs>125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Jake Smith</cp:lastModifiedBy>
  <cp:revision>12</cp:revision>
  <dcterms:created xsi:type="dcterms:W3CDTF">2026-09-21T13:20:12Z</dcterms:created>
  <dcterms:modified xsi:type="dcterms:W3CDTF">2026-09-21T14:15:16Z</dcterms:modified>
</cp:coreProperties>
</file>