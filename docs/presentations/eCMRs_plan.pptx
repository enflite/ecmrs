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7" r:id="rId5"/>
    <p:sldId id="266" r:id="rId6"/>
    <p:sldId id="259" r:id="rId7"/>
    <p:sldId id="268" r:id="rId8"/>
    <p:sldId id="269" r:id="rId21"/>
    <p:sldId id="260" r:id="rId10"/>
    <p:sldId id="261" r:id="rId11"/>
    <p:sldId id="263" r:id="rId12"/>
    <p:sldId id="262" r:id="rId13"/>
    <p:sldId id="264" r:id="rId14"/>
    <p:sldId id="265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15" autoAdjust="0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34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14" Type="http://schemas.openxmlformats.org/officeDocument/2006/relationships/slide" Target="slides/slide13.xml"/>  <Relationship Id="rId21" Type="http://schemas.openxmlformats.org/officeDocument/2006/relationships/slide" Target="slides/slide15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82034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Enflite Logo" descr="Enflit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7200"/>
            <a:ext cx="2743200" cy="572798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8778240" y="-1097280"/>
            <a:ext cx="4754880" cy="4754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457200" y="4160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PLAN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52628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CF0C2C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CMRs plan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457200" y="5989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QCS - standalone Change Management Request rebuild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1277295" cy="6144216"/>
          </a:xfrm>
          <a:prstGeom prst="roundRect">
            <a:avLst>
              <a:gd name="adj" fmla="val 1846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Eight milestones to production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at a glance — each phase in order.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060704" y="2340864"/>
            <a:ext cx="0" cy="3864000"/>
          </a:xfrm>
          <a:prstGeom prst="line">
            <a:avLst/>
          </a:prstGeom>
          <a:noFill/>
          <a:ln w="254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868680" y="2148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27048" y="2093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68680" y="2700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68680" y="2700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27048" y="2645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field that needs to come over in the migration.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8680" y="3252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8680" y="3252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27048" y="3197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 — never directly in production.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68680" y="3804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8680" y="380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27048" y="3749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700" dirty="0"/>
          </a:p>
        </p:txBody>
      </p:sp>
      <p:sp>
        <p:nvSpPr>
          <p:cNvPr id="101" name="Shape 101"/>
          <p:cNvSpPr/>
          <p:nvPr/>
        </p:nvSpPr>
        <p:spPr>
          <a:xfrm>
            <a:off x="868680" y="4356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2" name="Text 102"/>
          <p:cNvSpPr/>
          <p:nvPr/>
        </p:nvSpPr>
        <p:spPr>
          <a:xfrm>
            <a:off x="868680" y="4356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03" name="Text 103"/>
          <p:cNvSpPr/>
          <p:nvPr/>
        </p:nvSpPr>
        <p:spPr>
          <a:xfrm>
            <a:off x="1527048" y="4301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historical CMR data into the new table, or decide to start fresh.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68680" y="4908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68680" y="490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27048" y="4853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68680" y="5460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68680" y="5460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27048" y="5405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868680" y="6012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68680" y="6012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27048" y="5957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Decorative Circle"/>
          <p:cNvSpPr/>
          <p:nvPr/>
        </p:nvSpPr>
        <p:spPr>
          <a:xfrm>
            <a:off x="10500000" y="5400000"/>
            <a:ext cx="3200000" cy="320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Scope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352" y="2139215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phase flow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98755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confirmed requirements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471257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791297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2955889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A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model: one standalone table + IDO, zero dependencies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9595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9635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4924227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B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Form: build the eCMRs form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7932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727972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6892564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C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376270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869631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886090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D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clip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BRD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requirements, confirmed from the signed CMR Development SOW.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3474720"/>
          </a:xfrm>
          <a:prstGeom prst="rect">
            <a:avLst/>
          </a:prstGeom>
          <a:noFill/>
          <a:ln/>
        </p:spPr>
        <p:txBody>
          <a:bodyPr/>
          <a:lstStyle/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CMR form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not dependent on Create Change Request/Change Request Management existing first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data from existing CMR entries into the new form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custom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and Cause Codes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a new Ref Type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used for CMR Reason/Cause selection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fields from the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 that will be needed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additional fields such as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JOB, Serial#, Lot#, Top Level PN, Sub Assembly, Part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CMR needs a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identifier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can be used to reference the working CMR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The current CMR process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 → Change Request Management → CMR — the three-form workflow today.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60946" y="2418347"/>
            <a:ext cx="7050507" cy="3982453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457200" y="20715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current process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199" y="2743200"/>
            <a:ext cx="6725653" cy="35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emails a PIR (Job, Serial #, Top Level PN, Sub Assembly PN, Part, Issue); </a:t>
            </a:r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Priority, Initial Change, Requested By.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Request Management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everything’s already filled in – they just capture the CMR Number it generated.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 Form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assign engineering, pull Item/Revision from the drawing books, Disposition starts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Hold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RCA notes copied from the intake email (Serial #/LOT # currently get copied into the Notes here too).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Save, notify engineering (follow up after 24 hrs), then send the CMR Number back to the requester.</a:t>
            </a:r>
            <a:endParaRPr lang="en-US" sz="15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E6A3AA-1751-7994-8D3D-EA16944CF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527" y="1640425"/>
            <a:ext cx="5473569" cy="290536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38A9BE8-2779-A6A5-799C-3F5EA44B6E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3026" y="2869241"/>
            <a:ext cx="3683195" cy="37567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still needs work — cmr_num, Item, Priority, and Initial Change are already on the form.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penc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field mapping — from Create Change Request </a:t>
            </a:r>
            <a:endParaRPr lang="en-US" sz="1500" dirty="0"/>
          </a:p>
        </p:txBody>
      </p:sp>
      <p:sp>
        <p:nvSpPr>
          <p:cNvPr id="200" name="Header Field 0"/>
          <p:cNvSpPr/>
          <p:nvPr/>
        </p:nvSpPr>
        <p:spPr>
          <a:xfrm>
            <a:off x="822960" y="2926080"/>
            <a:ext cx="14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1150" dirty="0"/>
          </a:p>
        </p:txBody>
      </p:sp>
      <p:sp>
        <p:nvSpPr>
          <p:cNvPr id="201" name="Header What 0"/>
          <p:cNvSpPr/>
          <p:nvPr/>
        </p:nvSpPr>
        <p:spPr>
          <a:xfrm>
            <a:off x="2372960" y="2926080"/>
            <a:ext cx="34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50" dirty="0"/>
          </a:p>
        </p:txBody>
      </p:sp>
      <p:sp>
        <p:nvSpPr>
          <p:cNvPr id="202" name="HeaderDivider 0"/>
          <p:cNvSpPr/>
          <p:nvPr/>
        </p:nvSpPr>
        <p:spPr>
          <a:xfrm>
            <a:off x="822960" y="325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03" name="Header Field 1"/>
          <p:cNvSpPr/>
          <p:nvPr/>
        </p:nvSpPr>
        <p:spPr>
          <a:xfrm>
            <a:off x="6172960" y="2926080"/>
            <a:ext cx="14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1150" dirty="0"/>
          </a:p>
        </p:txBody>
      </p:sp>
      <p:sp>
        <p:nvSpPr>
          <p:cNvPr id="204" name="Header What 1"/>
          <p:cNvSpPr/>
          <p:nvPr/>
        </p:nvSpPr>
        <p:spPr>
          <a:xfrm>
            <a:off x="7722960" y="2926080"/>
            <a:ext cx="34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50" dirty="0"/>
          </a:p>
        </p:txBody>
      </p:sp>
      <p:sp>
        <p:nvSpPr>
          <p:cNvPr id="205" name="HeaderDivider 1"/>
          <p:cNvSpPr/>
          <p:nvPr/>
        </p:nvSpPr>
        <p:spPr>
          <a:xfrm>
            <a:off x="6172960" y="325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06" name="Field 0 dept"/>
          <p:cNvSpPr/>
          <p:nvPr/>
        </p:nvSpPr>
        <p:spPr>
          <a:xfrm>
            <a:off x="822960" y="328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</a:t>
            </a:r>
            <a:endParaRPr lang="en-US" sz="1100" dirty="0"/>
          </a:p>
        </p:txBody>
      </p:sp>
      <p:sp>
        <p:nvSpPr>
          <p:cNvPr id="207" name="Desc 0 dept"/>
          <p:cNvSpPr/>
          <p:nvPr/>
        </p:nvSpPr>
        <p:spPr>
          <a:xfrm>
            <a:off x="2372960" y="328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combo, SLDepts list source</a:t>
            </a:r>
            <a:endParaRPr lang="en-US" sz="1100" dirty="0"/>
          </a:p>
        </p:txBody>
      </p:sp>
      <p:sp>
        <p:nvSpPr>
          <p:cNvPr id="208" name="Divider 0 dept"/>
          <p:cNvSpPr/>
          <p:nvPr/>
        </p:nvSpPr>
        <p:spPr>
          <a:xfrm>
            <a:off x="822960" y="370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09" name="Field 0 dept_description"/>
          <p:cNvSpPr/>
          <p:nvPr/>
        </p:nvSpPr>
        <p:spPr>
          <a:xfrm>
            <a:off x="822960" y="370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dept_description</a:t>
            </a:r>
            <a:endParaRPr lang="en-US" sz="1100" dirty="0"/>
          </a:p>
        </p:txBody>
      </p:sp>
      <p:sp>
        <p:nvSpPr>
          <p:cNvPr id="210" name="Desc 0 dept_description"/>
          <p:cNvSpPr/>
          <p:nvPr/>
        </p:nvSpPr>
        <p:spPr>
          <a:xfrm>
            <a:off x="2372960" y="370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Read-only, auto-fills via DefaultFrom</a:t>
            </a:r>
            <a:endParaRPr lang="en-US" sz="1100" dirty="0"/>
          </a:p>
        </p:txBody>
      </p:sp>
      <p:sp>
        <p:nvSpPr>
          <p:cNvPr id="211" name="Divider 0 dept_description"/>
          <p:cNvSpPr/>
          <p:nvPr/>
        </p:nvSpPr>
        <p:spPr>
          <a:xfrm>
            <a:off x="822960" y="412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2" name="Field 0 wc"/>
          <p:cNvSpPr/>
          <p:nvPr/>
        </p:nvSpPr>
        <p:spPr>
          <a:xfrm>
            <a:off x="822960" y="412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</a:t>
            </a:r>
            <a:endParaRPr lang="en-US" sz="1100" dirty="0"/>
          </a:p>
        </p:txBody>
      </p:sp>
      <p:sp>
        <p:nvSpPr>
          <p:cNvPr id="213" name="Desc 0 wc"/>
          <p:cNvSpPr/>
          <p:nvPr/>
        </p:nvSpPr>
        <p:spPr>
          <a:xfrm>
            <a:off x="2372960" y="412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Center combo, SLWcs list source</a:t>
            </a:r>
            <a:endParaRPr lang="en-US" sz="1100" dirty="0"/>
          </a:p>
        </p:txBody>
      </p:sp>
      <p:sp>
        <p:nvSpPr>
          <p:cNvPr id="214" name="Divider 0 wc"/>
          <p:cNvSpPr/>
          <p:nvPr/>
        </p:nvSpPr>
        <p:spPr>
          <a:xfrm>
            <a:off x="822960" y="454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5" name="Field 0 wc_description"/>
          <p:cNvSpPr/>
          <p:nvPr/>
        </p:nvSpPr>
        <p:spPr>
          <a:xfrm>
            <a:off x="822960" y="454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wc_description</a:t>
            </a:r>
            <a:endParaRPr lang="en-US" sz="1100" dirty="0"/>
          </a:p>
        </p:txBody>
      </p:sp>
      <p:sp>
        <p:nvSpPr>
          <p:cNvPr id="216" name="Desc 0 wc_description"/>
          <p:cNvSpPr/>
          <p:nvPr/>
        </p:nvSpPr>
        <p:spPr>
          <a:xfrm>
            <a:off x="2372960" y="454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Read-only, auto-fills via DefaultFrom</a:t>
            </a:r>
            <a:endParaRPr lang="en-US" sz="1100" dirty="0"/>
          </a:p>
        </p:txBody>
      </p:sp>
      <p:sp>
        <p:nvSpPr>
          <p:cNvPr id="217" name="Divider 0 wc_description"/>
          <p:cNvSpPr/>
          <p:nvPr/>
        </p:nvSpPr>
        <p:spPr>
          <a:xfrm>
            <a:off x="822960" y="496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8" name="Field 0 req_costing"/>
          <p:cNvSpPr/>
          <p:nvPr/>
        </p:nvSpPr>
        <p:spPr>
          <a:xfrm>
            <a:off x="822960" y="496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req_costing</a:t>
            </a:r>
            <a:endParaRPr lang="en-US" sz="1100" dirty="0"/>
          </a:p>
        </p:txBody>
      </p:sp>
      <p:sp>
        <p:nvSpPr>
          <p:cNvPr id="219" name="Desc 0 req_costing"/>
          <p:cNvSpPr/>
          <p:nvPr/>
        </p:nvSpPr>
        <p:spPr>
          <a:xfrm>
            <a:off x="2372960" y="496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checkbox: Costing</a:t>
            </a:r>
            <a:endParaRPr lang="en-US" sz="1100" dirty="0"/>
          </a:p>
        </p:txBody>
      </p:sp>
      <p:sp>
        <p:nvSpPr>
          <p:cNvPr id="220" name="Divider 0 req_costing"/>
          <p:cNvSpPr/>
          <p:nvPr/>
        </p:nvSpPr>
        <p:spPr>
          <a:xfrm>
            <a:off x="822960" y="538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21" name="Field 0 req_documentation"/>
          <p:cNvSpPr/>
          <p:nvPr/>
        </p:nvSpPr>
        <p:spPr>
          <a:xfrm>
            <a:off x="822960" y="538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req_documentation</a:t>
            </a:r>
            <a:endParaRPr lang="en-US" sz="1100" dirty="0"/>
          </a:p>
        </p:txBody>
      </p:sp>
      <p:sp>
        <p:nvSpPr>
          <p:cNvPr id="222" name="Desc 0 req_documentation"/>
          <p:cNvSpPr/>
          <p:nvPr/>
        </p:nvSpPr>
        <p:spPr>
          <a:xfrm>
            <a:off x="2372960" y="538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checkbox: Documentation</a:t>
            </a:r>
            <a:endParaRPr lang="en-US" sz="1100" dirty="0"/>
          </a:p>
        </p:txBody>
      </p:sp>
      <p:sp>
        <p:nvSpPr>
          <p:cNvPr id="223" name="Divider 0 req_documentation"/>
          <p:cNvSpPr/>
          <p:nvPr/>
        </p:nvSpPr>
        <p:spPr>
          <a:xfrm>
            <a:off x="822960" y="580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24" name="Field 0 req_material"/>
          <p:cNvSpPr/>
          <p:nvPr/>
        </p:nvSpPr>
        <p:spPr>
          <a:xfrm>
            <a:off x="822960" y="580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req_material</a:t>
            </a:r>
            <a:endParaRPr lang="en-US" sz="1100" dirty="0"/>
          </a:p>
        </p:txBody>
      </p:sp>
      <p:sp>
        <p:nvSpPr>
          <p:cNvPr id="225" name="Desc 0 req_material"/>
          <p:cNvSpPr/>
          <p:nvPr/>
        </p:nvSpPr>
        <p:spPr>
          <a:xfrm>
            <a:off x="2372960" y="580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checkbox: Material</a:t>
            </a:r>
            <a:endParaRPr lang="en-US" sz="1100" dirty="0"/>
          </a:p>
        </p:txBody>
      </p:sp>
      <p:sp>
        <p:nvSpPr>
          <p:cNvPr id="226" name="Divider 0 req_material"/>
          <p:cNvSpPr/>
          <p:nvPr/>
        </p:nvSpPr>
        <p:spPr>
          <a:xfrm>
            <a:off x="822960" y="622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27" name="Field 1 req_process"/>
          <p:cNvSpPr/>
          <p:nvPr/>
        </p:nvSpPr>
        <p:spPr>
          <a:xfrm>
            <a:off x="6172960" y="328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req_process</a:t>
            </a:r>
            <a:endParaRPr lang="en-US" sz="1100" dirty="0"/>
          </a:p>
        </p:txBody>
      </p:sp>
      <p:sp>
        <p:nvSpPr>
          <p:cNvPr id="228" name="Desc 1 req_process"/>
          <p:cNvSpPr/>
          <p:nvPr/>
        </p:nvSpPr>
        <p:spPr>
          <a:xfrm>
            <a:off x="7722960" y="328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checkbox: Process</a:t>
            </a:r>
            <a:endParaRPr lang="en-US" sz="1100" dirty="0"/>
          </a:p>
        </p:txBody>
      </p:sp>
      <p:sp>
        <p:nvSpPr>
          <p:cNvPr id="229" name="Divider 1 req_process"/>
          <p:cNvSpPr/>
          <p:nvPr/>
        </p:nvSpPr>
        <p:spPr>
          <a:xfrm>
            <a:off x="6172960" y="370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30" name="Field 1 req_tool_machine"/>
          <p:cNvSpPr/>
          <p:nvPr/>
        </p:nvSpPr>
        <p:spPr>
          <a:xfrm>
            <a:off x="6172960" y="370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req_tool_machine</a:t>
            </a:r>
            <a:endParaRPr lang="en-US" sz="1100" dirty="0"/>
          </a:p>
        </p:txBody>
      </p:sp>
      <p:sp>
        <p:nvSpPr>
          <p:cNvPr id="231" name="Desc 1 req_tool_machine"/>
          <p:cNvSpPr/>
          <p:nvPr/>
        </p:nvSpPr>
        <p:spPr>
          <a:xfrm>
            <a:off x="7722960" y="370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checkbox: Tool/Machine</a:t>
            </a:r>
            <a:endParaRPr lang="en-US" sz="1100" dirty="0"/>
          </a:p>
        </p:txBody>
      </p:sp>
      <p:sp>
        <p:nvSpPr>
          <p:cNvPr id="232" name="Divider 1 req_tool_machine"/>
          <p:cNvSpPr/>
          <p:nvPr/>
        </p:nvSpPr>
        <p:spPr>
          <a:xfrm>
            <a:off x="6172960" y="412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33" name="Field 1 due_date"/>
          <p:cNvSpPr/>
          <p:nvPr/>
        </p:nvSpPr>
        <p:spPr>
          <a:xfrm>
            <a:off x="6172960" y="412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due_date</a:t>
            </a:r>
            <a:endParaRPr lang="en-US" sz="1100" dirty="0"/>
          </a:p>
        </p:txBody>
      </p:sp>
      <p:sp>
        <p:nvSpPr>
          <p:cNvPr id="234" name="Desc 1 due_date"/>
          <p:cNvSpPr/>
          <p:nvPr/>
        </p:nvSpPr>
        <p:spPr>
          <a:xfrm>
            <a:off x="7722960" y="412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Date</a:t>
            </a:r>
            <a:endParaRPr lang="en-US" sz="1100" dirty="0"/>
          </a:p>
        </p:txBody>
      </p:sp>
      <p:sp>
        <p:nvSpPr>
          <p:cNvPr id="235" name="Divider 1 due_date"/>
          <p:cNvSpPr/>
          <p:nvPr/>
        </p:nvSpPr>
        <p:spPr>
          <a:xfrm>
            <a:off x="6172960" y="454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36" name="Field 1 general_note"/>
          <p:cNvSpPr/>
          <p:nvPr/>
        </p:nvSpPr>
        <p:spPr>
          <a:xfrm>
            <a:off x="6172960" y="454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general_note</a:t>
            </a:r>
            <a:endParaRPr lang="en-US" sz="1100" dirty="0"/>
          </a:p>
        </p:txBody>
      </p:sp>
      <p:sp>
        <p:nvSpPr>
          <p:cNvPr id="237" name="Desc 1 general_note"/>
          <p:cNvSpPr/>
          <p:nvPr/>
        </p:nvSpPr>
        <p:spPr>
          <a:xfrm>
            <a:off x="7722960" y="454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(free text)</a:t>
            </a:r>
            <a:endParaRPr lang="en-US" sz="1100" dirty="0"/>
          </a:p>
        </p:txBody>
      </p:sp>
      <p:sp>
        <p:nvSpPr>
          <p:cNvPr id="238" name="Divider 1 general_note"/>
          <p:cNvSpPr/>
          <p:nvPr/>
        </p:nvSpPr>
        <p:spPr>
          <a:xfrm>
            <a:off x="6172960" y="496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39" name="Field 1 reported_by"/>
          <p:cNvSpPr/>
          <p:nvPr/>
        </p:nvSpPr>
        <p:spPr>
          <a:xfrm>
            <a:off x="6172960" y="496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reported_by</a:t>
            </a:r>
            <a:endParaRPr lang="en-US" sz="1100" dirty="0"/>
          </a:p>
        </p:txBody>
      </p:sp>
      <p:sp>
        <p:nvSpPr>
          <p:cNvPr id="240" name="Desc 1 reported_by"/>
          <p:cNvSpPr/>
          <p:nvPr/>
        </p:nvSpPr>
        <p:spPr>
          <a:xfrm>
            <a:off x="7722960" y="496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By - who requested the change</a:t>
            </a:r>
            <a:endParaRPr lang="en-US" sz="1100" dirty="0"/>
          </a:p>
        </p:txBody>
      </p:sp>
      <p:sp>
        <p:nvSpPr>
          <p:cNvPr id="241" name="Divider 1 reported_by"/>
          <p:cNvSpPr/>
          <p:nvPr/>
        </p:nvSpPr>
        <p:spPr>
          <a:xfrm>
            <a:off x="6172960" y="538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2" name="Field 1 reason_code"/>
          <p:cNvSpPr/>
          <p:nvPr/>
        </p:nvSpPr>
        <p:spPr>
          <a:xfrm>
            <a:off x="6172960" y="538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reason_code</a:t>
            </a:r>
            <a:endParaRPr lang="en-US" sz="1100" dirty="0"/>
          </a:p>
        </p:txBody>
      </p:sp>
      <p:sp>
        <p:nvSpPr>
          <p:cNvPr id="243" name="Desc 1 reason_code"/>
          <p:cNvSpPr/>
          <p:nvPr/>
        </p:nvSpPr>
        <p:spPr>
          <a:xfrm>
            <a:off x="7722960" y="538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Code combo, Quality section - real QCReasonCode class</a:t>
            </a:r>
            <a:endParaRPr lang="en-US" sz="1100" dirty="0"/>
          </a:p>
        </p:txBody>
      </p:sp>
      <p:sp>
        <p:nvSpPr>
          <p:cNvPr id="244" name="Divider 1 reason_code"/>
          <p:cNvSpPr/>
          <p:nvPr/>
        </p:nvSpPr>
        <p:spPr>
          <a:xfrm>
            <a:off x="6172960" y="580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5" name="Field 1 cause_code"/>
          <p:cNvSpPr/>
          <p:nvPr/>
        </p:nvSpPr>
        <p:spPr>
          <a:xfrm>
            <a:off x="6172960" y="5806080"/>
            <a:ext cx="14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cause_code</a:t>
            </a:r>
            <a:endParaRPr lang="en-US" sz="1100" dirty="0"/>
          </a:p>
        </p:txBody>
      </p:sp>
      <p:sp>
        <p:nvSpPr>
          <p:cNvPr id="246" name="Desc 1 cause_code"/>
          <p:cNvSpPr/>
          <p:nvPr/>
        </p:nvSpPr>
        <p:spPr>
          <a:xfrm>
            <a:off x="7722960" y="5806080"/>
            <a:ext cx="34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Code combo, Quality section - real QCCauseCode class</a:t>
            </a:r>
            <a:endParaRPr lang="en-US" sz="1100" dirty="0"/>
          </a:p>
        </p:txBody>
      </p:sp>
      <p:sp>
        <p:nvSpPr>
          <p:cNvPr id="247" name="Divider 1 cause_code"/>
          <p:cNvSpPr/>
          <p:nvPr/>
        </p:nvSpPr>
        <p:spPr>
          <a:xfrm>
            <a:off x="6172960" y="622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the BRD calls out as needing their own field — not part of the Create Change Request carryover.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penc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fields — new, not carried over from Create Change Request</a:t>
            </a:r>
            <a:endParaRPr lang="en-US" sz="1500" dirty="0"/>
          </a:p>
        </p:txBody>
      </p:sp>
      <p:sp>
        <p:nvSpPr>
          <p:cNvPr id="300" name="Header Field"/>
          <p:cNvSpPr/>
          <p:nvPr/>
        </p:nvSpPr>
        <p:spPr>
          <a:xfrm>
            <a:off x="822960" y="2926080"/>
            <a:ext cx="31637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field</a:t>
            </a:r>
            <a:endParaRPr lang="en-US" sz="1250" dirty="0"/>
          </a:p>
        </p:txBody>
      </p:sp>
      <p:sp>
        <p:nvSpPr>
          <p:cNvPr id="301" name="Header What"/>
          <p:cNvSpPr/>
          <p:nvPr/>
        </p:nvSpPr>
        <p:spPr>
          <a:xfrm>
            <a:off x="3986693" y="2926080"/>
            <a:ext cx="73820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250" dirty="0"/>
          </a:p>
        </p:txBody>
      </p:sp>
      <p:sp>
        <p:nvSpPr>
          <p:cNvPr id="302" name="HeaderDivider"/>
          <p:cNvSpPr/>
          <p:nvPr/>
        </p:nvSpPr>
        <p:spPr>
          <a:xfrm>
            <a:off x="822960" y="332841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03" name="Field Serial # (serial_num)"/>
          <p:cNvSpPr/>
          <p:nvPr/>
        </p:nvSpPr>
        <p:spPr>
          <a:xfrm>
            <a:off x="822960" y="3419856"/>
            <a:ext cx="316373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# (serial_num)</a:t>
            </a:r>
            <a:endParaRPr lang="en-US" sz="1300" dirty="0"/>
          </a:p>
        </p:txBody>
      </p:sp>
      <p:sp>
        <p:nvSpPr>
          <p:cNvPr id="304" name="Desc Serial # (serial_num)"/>
          <p:cNvSpPr/>
          <p:nvPr/>
        </p:nvSpPr>
        <p:spPr>
          <a:xfrm>
            <a:off x="3986693" y="3419856"/>
            <a:ext cx="738204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field (char, 50) — already built; previously just copied into the Notes section on the legacy 3-form process.</a:t>
            </a:r>
            <a:endParaRPr lang="en-US" sz="1300" dirty="0"/>
          </a:p>
        </p:txBody>
      </p:sp>
      <p:sp>
        <p:nvSpPr>
          <p:cNvPr id="305" name="Divider Serial # (serial_num)"/>
          <p:cNvSpPr/>
          <p:nvPr/>
        </p:nvSpPr>
        <p:spPr>
          <a:xfrm>
            <a:off x="822960" y="38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06" name="Field Lot # (lot_num)"/>
          <p:cNvSpPr/>
          <p:nvPr/>
        </p:nvSpPr>
        <p:spPr>
          <a:xfrm>
            <a:off x="822960" y="3819856"/>
            <a:ext cx="316373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 # (lot_num)</a:t>
            </a:r>
            <a:endParaRPr lang="en-US" sz="1300" dirty="0"/>
          </a:p>
        </p:txBody>
      </p:sp>
      <p:sp>
        <p:nvSpPr>
          <p:cNvPr id="307" name="Desc Lot # (lot_num)"/>
          <p:cNvSpPr/>
          <p:nvPr/>
        </p:nvSpPr>
        <p:spPr>
          <a:xfrm>
            <a:off x="3986693" y="3819856"/>
            <a:ext cx="738204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field (char, 50) — already built, same as Serial #.</a:t>
            </a:r>
            <a:endParaRPr lang="en-US" sz="1300" dirty="0"/>
          </a:p>
        </p:txBody>
      </p:sp>
      <p:sp>
        <p:nvSpPr>
          <p:cNvPr id="308" name="Divider Lot # (lot_num)"/>
          <p:cNvSpPr/>
          <p:nvPr/>
        </p:nvSpPr>
        <p:spPr>
          <a:xfrm>
            <a:off x="822960" y="42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09" name="Field Top Level PN (top_level_pn)"/>
          <p:cNvSpPr/>
          <p:nvPr/>
        </p:nvSpPr>
        <p:spPr>
          <a:xfrm>
            <a:off x="822960" y="4219856"/>
            <a:ext cx="316373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Level PN (top_level_pn)</a:t>
            </a:r>
            <a:endParaRPr lang="en-US" sz="1300" dirty="0"/>
          </a:p>
        </p:txBody>
      </p:sp>
      <p:sp>
        <p:nvSpPr>
          <p:cNvPr id="310" name="Desc Top Level PN (top_level_pn)"/>
          <p:cNvSpPr/>
          <p:nvPr/>
        </p:nvSpPr>
        <p:spPr>
          <a:xfrm>
            <a:off x="3986693" y="4219856"/>
            <a:ext cx="738204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field (char, 30) — built, highlighted on the form as a new field.</a:t>
            </a:r>
            <a:endParaRPr lang="en-US" sz="1300" dirty="0"/>
          </a:p>
        </p:txBody>
      </p:sp>
      <p:sp>
        <p:nvSpPr>
          <p:cNvPr id="311" name="Divider Top Level PN (top_level_pn)"/>
          <p:cNvSpPr/>
          <p:nvPr/>
        </p:nvSpPr>
        <p:spPr>
          <a:xfrm>
            <a:off x="822960" y="46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12" name="Field Sub Assembly (sub_assembly)"/>
          <p:cNvSpPr/>
          <p:nvPr/>
        </p:nvSpPr>
        <p:spPr>
          <a:xfrm>
            <a:off x="822960" y="4619856"/>
            <a:ext cx="316373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Assembly (sub_assembly)</a:t>
            </a:r>
            <a:endParaRPr lang="en-US" sz="1300" dirty="0"/>
          </a:p>
        </p:txBody>
      </p:sp>
      <p:sp>
        <p:nvSpPr>
          <p:cNvPr id="313" name="Desc Sub Assembly (sub_assembly)"/>
          <p:cNvSpPr/>
          <p:nvPr/>
        </p:nvSpPr>
        <p:spPr>
          <a:xfrm>
            <a:off x="3986693" y="4619856"/>
            <a:ext cx="738204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field (char, 30), built distinct from Next Lvl Assy — still an open question whether they’re the same concept.</a:t>
            </a:r>
            <a:endParaRPr lang="en-US" sz="1300" dirty="0"/>
          </a:p>
        </p:txBody>
      </p:sp>
      <p:sp>
        <p:nvSpPr>
          <p:cNvPr id="314" name="Divider Sub Assembly (sub_assembly)"/>
          <p:cNvSpPr/>
          <p:nvPr/>
        </p:nvSpPr>
        <p:spPr>
          <a:xfrm>
            <a:off x="822960" y="50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wre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Develop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build steps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SQL table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ue_ecmrs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IDO - properties bulk-appended from CSV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cmr_num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auto-number set in the IDO properties - increments every CMR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checkbox cascade logic</a:t>
            </a: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Tip &amp; Tricks (Review for technique on po creation)</a:t>
            </a:r>
            <a:endParaRPr lang="en-US" sz="1500" dirty="0">
              <a:solidFill>
                <a:srgbClr val="FF0000"/>
              </a:solidFill>
            </a:endParaRP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form XML through Form Sync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Staging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1379" y="2200317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staging approach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SQL table, then the IDO - Use AI to build the form in XML &amp; use Form Sync for imports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584448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584448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exports/eCMRs_v1.XML via Form Sync only after the IDO is checked in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242816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242816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TRN first – then in production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22960" y="4901184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234440" y="4901184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full TRN test checklist before go-live: create path, persistence round-trip, Requirements checkbox cascade</a:t>
            </a:r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E87F5528-7C19-A626-5DA9-34357D16047F}"/>
              </a:ext>
            </a:extLst>
          </p:cNvPr>
          <p:cNvSpPr/>
          <p:nvPr/>
        </p:nvSpPr>
        <p:spPr>
          <a:xfrm>
            <a:off x="822960" y="555955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12">
            <a:extLst>
              <a:ext uri="{FF2B5EF4-FFF2-40B4-BE49-F238E27FC236}">
                <a16:creationId xmlns:a16="http://schemas.microsoft.com/office/drawing/2014/main" id="{9247ABB6-B95A-4F45-624C-0F3FAF63C6A8}"/>
              </a:ext>
            </a:extLst>
          </p:cNvPr>
          <p:cNvSpPr/>
          <p:nvPr/>
        </p:nvSpPr>
        <p:spPr>
          <a:xfrm>
            <a:off x="1188720" y="5542449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procedure documentation changes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27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2194560" y="621792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Migrating the old CMR data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194560" y="1325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D decision that is still open — two options on the table.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501488" cy="1691640"/>
          </a:xfrm>
          <a:prstGeom prst="roundRect">
            <a:avLst>
              <a:gd name="adj" fmla="val 6486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77240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the history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historical CMR data from </a:t>
            </a:r>
            <a:r>
              <a:rPr lang="en-US" sz="13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rs_cmr</a:t>
            </a: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3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rs_crcvr</a:t>
            </a: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new table. Every field becomes its own real column on the standalone table, mapped per field-mapping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965960"/>
            <a:ext cx="5501488" cy="1691640"/>
          </a:xfrm>
          <a:prstGeom prst="roundRect">
            <a:avLst>
              <a:gd name="adj" fmla="val 6486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553048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fresh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53048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goes live with new CMRs only. Legacy history stays queryable through the old screens and tables.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95344"/>
            <a:ext cx="11277295" cy="2514600"/>
          </a:xfrm>
          <a:prstGeom prst="roundRect">
            <a:avLst>
              <a:gd name="adj" fmla="val 4364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960" y="4160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we’ll migrate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450799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450799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Numbering: cmr_num just needs to be a unique auto-generated value — migrated rows get a fresh one on insert, like any new CMR.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05663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505663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mapping: every rs_cmr/rs_crcvr column copies to its own real column on ue_ecmrs, per docs/field-mapping.md — no join back.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560527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560527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Load: a one-time script inserts each mapped row directly into ue_ecmrs — never a live join, never a client-computed key.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ro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Launch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D decisions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replaces CMR form, create change request and change request management forms, it runs alongside it until the CMR form is retired once eCMRs is proven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70332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70332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historical CMR data from rs_cmr/rs_crcvr, or start fresh with legacy history queryable through the old screens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48056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48056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Create Change Request, Change Request Management, and CMRs once live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Test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199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C test list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CMR end-to-end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reopen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numbering has no race condition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flow meets requirements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all fields + lookup fields work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5486400" cy="5486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601200" y="-1371600"/>
            <a:ext cx="4572000" cy="4572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10048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948" y="845820"/>
            <a:ext cx="685800" cy="685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CF0C2C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Optimize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1371600" y="288036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57200" y="3749040"/>
            <a:ext cx="11277295" cy="2651760"/>
          </a:xfrm>
          <a:prstGeom prst="roundRect">
            <a:avLst>
              <a:gd name="adj" fmla="val 4138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22960" y="40416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optimization backlog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434840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and track all issues with each team using the form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any bugs &amp; no critical paths are blocking us from normal work flows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procedures for manager approval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Decorative Circle"/>
          <p:cNvSpPr/>
          <p:nvPr/>
        </p:nvSpPr>
        <p:spPr>
          <a:xfrm>
            <a:off x="-900000" y="-900000"/>
            <a:ext cx="3000000" cy="300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eCMRs screen actually looks like, with the additional and Change Request fields shown in place above Quality.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penc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0" name="eCMRs Form Mockup" descr="eCMRs form mockup 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652" y="2148840"/>
            <a:ext cx="2862695" cy="4251960"/>
          </a:xfrm>
          <a:prstGeom prst="rect">
            <a:avLst/>
          </a:prstGeom>
          <a:ln w="9525">
            <a:solidFill>
              <a:srgbClr val="E5E5E5"/>
            </a:solidFill>
            <a:prstDash val="solid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2525"/>
      </a:dk2>
      <a:lt2>
        <a:srgbClr val="E7E6E6"/>
      </a:lt2>
      <a:accent1>
        <a:srgbClr val="CF0C2C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1419</TotalTime>
  <Words>1268</Words>
  <Application>Microsoft Office PowerPoint</Application>
  <PresentationFormat>Widescreen</PresentationFormat>
  <Paragraphs>168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Jake Smith</cp:lastModifiedBy>
  <cp:revision>19</cp:revision>
  <dcterms:created xsi:type="dcterms:W3CDTF">2026-09-21T13:20:12Z</dcterms:created>
  <dcterms:modified xsi:type="dcterms:W3CDTF">2026-09-24T00:59:23Z</dcterms:modified>
</cp:coreProperties>
</file>