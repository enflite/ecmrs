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66" r:id="rId17"/>
    <p:sldId id="267" r:id="rId18"/>
    <p:sldId id="259" r:id="rId5"/>
    <p:sldId id="260" r:id="rId6"/>
    <p:sldId id="261" r:id="rId7"/>
    <p:sldId id="263" r:id="rId8"/>
    <p:sldId id="262" r:id="rId9"/>
    <p:sldId id="264" r:id="rId10"/>
    <p:sldId id="265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0" d="100"/>
          <a:sy n="80" d="100"/>
        </p:scale>
        <p:origin x="50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  <Relationship Id="rId17" Type="http://schemas.openxmlformats.org/officeDocument/2006/relationships/slide" Target="slides/slide11.xml"/>
  <Relationship Id="rId18" Type="http://schemas.openxmlformats.org/officeDocument/2006/relationships/slide" Target="slides/slide12.xml"/>
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682034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
<Relationships xmlns="http://schemas.openxmlformats.org/package/2006/relationships"><Relationship Id="rId3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2.xml.rels><?xml version="1.0" encoding="UTF-8" standalone="yes"?>
<Relationships xmlns="http://schemas.openxmlformats.org/package/2006/relationships"><Relationship Id="rId3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097280"/>
            <a:ext cx="4754880" cy="4754880"/>
          </a:xfrm>
          <a:prstGeom prst="ellipse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9509760" y="640080"/>
            <a:ext cx="1645920" cy="1645920"/>
          </a:xfrm>
          <a:prstGeom prst="roundRect">
            <a:avLst>
              <a:gd name="adj" fmla="val 6667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" name="Image 0" descr="icons/clip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1051560"/>
            <a:ext cx="822960" cy="8229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160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PLAN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457200" y="4526280"/>
            <a:ext cx="10058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CMRs plan</a:t>
            </a:r>
            <a:endParaRPr lang="en-US" sz="6000" dirty="0"/>
          </a:p>
        </p:txBody>
      </p:sp>
      <p:sp>
        <p:nvSpPr>
          <p:cNvPr id="7" name="Text 4"/>
          <p:cNvSpPr/>
          <p:nvPr/>
        </p:nvSpPr>
        <p:spPr>
          <a:xfrm>
            <a:off x="457200" y="598932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SyteLine QCS - standalone Change Management Request rebuild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1277295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 algn="bl" rotWithShape="0">
              <a:srgbClr val="1E293B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822960" y="7772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Seven milestones to production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14630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plan at a glance — each phase in order.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1060704" y="2340864"/>
            <a:ext cx="0" cy="3566160"/>
          </a:xfrm>
          <a:prstGeom prst="line">
            <a:avLst/>
          </a:prstGeom>
          <a:noFill/>
          <a:ln w="254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868680" y="2148840"/>
            <a:ext cx="384048" cy="384048"/>
          </a:xfrm>
          <a:prstGeom prst="ellipse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68680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527048" y="2093976"/>
            <a:ext cx="9144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</a:t>
            </a:r>
            <a:endParaRPr lang="en-US" sz="170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high-level outline flows to strategize the approach.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868680" y="2743200"/>
            <a:ext cx="384048" cy="384048"/>
          </a:xfrm>
          <a:prstGeom prst="ellipse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868680" y="2743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527048" y="2688336"/>
            <a:ext cx="9144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</a:t>
            </a:r>
            <a:endParaRPr lang="en-US" sz="170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every field that needs to come over in the migration.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868680" y="3337560"/>
            <a:ext cx="384048" cy="384048"/>
          </a:xfrm>
          <a:prstGeom prst="ellipse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868680" y="3337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527048" y="3282696"/>
            <a:ext cx="9144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</a:t>
            </a:r>
            <a:endParaRPr lang="en-US" sz="170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on staging / TRN first — never directly in production.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868680" y="3931920"/>
            <a:ext cx="384048" cy="384048"/>
          </a:xfrm>
          <a:prstGeom prst="ellipse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68680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527048" y="3877056"/>
            <a:ext cx="9144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Staging</a:t>
            </a:r>
            <a:endParaRPr lang="en-US" sz="170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Freeze the staged build and run final validation before production.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868680" y="4526280"/>
            <a:ext cx="384048" cy="384048"/>
          </a:xfrm>
          <a:prstGeom prst="ellipse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868680" y="4526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527048" y="4471416"/>
            <a:ext cx="9144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</a:t>
            </a:r>
            <a:endParaRPr lang="en-US" sz="170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to production.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868680" y="5120640"/>
            <a:ext cx="384048" cy="384048"/>
          </a:xfrm>
          <a:prstGeom prst="ellipse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868680" y="5120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527048" y="5065776"/>
            <a:ext cx="9144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70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tests to make sure everything looks good.</a:t>
            </a:r>
            <a:endParaRPr lang="en-US" sz="1700" dirty="0"/>
          </a:p>
        </p:txBody>
      </p:sp>
      <p:sp>
        <p:nvSpPr>
          <p:cNvPr id="24" name="Shape 22"/>
          <p:cNvSpPr/>
          <p:nvPr/>
        </p:nvSpPr>
        <p:spPr>
          <a:xfrm>
            <a:off x="868680" y="5715000"/>
            <a:ext cx="384048" cy="384048"/>
          </a:xfrm>
          <a:prstGeom prst="ellipse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868680" y="5715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527048" y="5660136"/>
            <a:ext cx="9144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</a:t>
            </a:r>
            <a:endParaRPr lang="en-US" sz="170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weeks of optimization, working closely with the in-house team.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" name="Image 0" descr="icons/targ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" y="845820"/>
            <a:ext cx="685800" cy="685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94560" y="502920"/>
            <a:ext cx="95399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Scope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2194560" y="1216152"/>
            <a:ext cx="95399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high-level outline flows to strategize the approach.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457200" y="2148840"/>
            <a:ext cx="11277295" cy="425196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 algn="bl" rotWithShape="0">
              <a:srgbClr val="1E293B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822960" y="2514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actual phase flow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22960" y="2926080"/>
            <a:ext cx="1648297" cy="1828800"/>
          </a:xfrm>
          <a:prstGeom prst="roundRect">
            <a:avLst>
              <a:gd name="adj" fmla="val 443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987552" y="3090672"/>
            <a:ext cx="1319113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0</a:t>
            </a:r>
            <a:endParaRPr lang="en-US" sz="140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over confirmed requirements from cmr-project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2471257" y="2926080"/>
            <a:ext cx="320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2791297" y="2926080"/>
            <a:ext cx="1648297" cy="1828800"/>
          </a:xfrm>
          <a:prstGeom prst="roundRect">
            <a:avLst>
              <a:gd name="adj" fmla="val 443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2955889" y="3090672"/>
            <a:ext cx="1319113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A</a:t>
            </a:r>
            <a:endParaRPr lang="en-US" sz="140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model: one standalone table + IDO, zero dependencies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4439595" y="2926080"/>
            <a:ext cx="320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4759635" y="2926080"/>
            <a:ext cx="1648297" cy="1828800"/>
          </a:xfrm>
          <a:prstGeom prst="roundRect">
            <a:avLst>
              <a:gd name="adj" fmla="val 443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4924227" y="3090672"/>
            <a:ext cx="1319113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B</a:t>
            </a:r>
            <a:endParaRPr lang="en-US" sz="140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Form: build the eCMRs form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407932" y="2926080"/>
            <a:ext cx="320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6727972" y="2926080"/>
            <a:ext cx="1648297" cy="1828800"/>
          </a:xfrm>
          <a:prstGeom prst="roundRect">
            <a:avLst>
              <a:gd name="adj" fmla="val 443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6892564" y="3090672"/>
            <a:ext cx="1319113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C</a:t>
            </a:r>
            <a:endParaRPr lang="en-US" sz="140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8376270" y="2926080"/>
            <a:ext cx="320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0" name="Shape 17"/>
          <p:cNvSpPr/>
          <p:nvPr/>
        </p:nvSpPr>
        <p:spPr>
          <a:xfrm>
            <a:off x="8696310" y="2926080"/>
            <a:ext cx="1648297" cy="1828800"/>
          </a:xfrm>
          <a:prstGeom prst="roundRect">
            <a:avLst>
              <a:gd name="adj" fmla="val 443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8860902" y="3090672"/>
            <a:ext cx="1319113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D</a:t>
            </a:r>
            <a:endParaRPr lang="en-US" sz="140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Rollout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95399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457200" y="1216152"/>
            <a:ext cx="95399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every field that needs to come over in the migration.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0362895" y="502920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icons/penc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5795" y="845820"/>
            <a:ext cx="685800" cy="6858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2148840"/>
            <a:ext cx="11277295" cy="425196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 algn="bl" rotWithShape="0">
              <a:srgbClr val="1E293B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822960" y="2514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field mapping — from Create Change Request 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22960" y="2926080"/>
            <a:ext cx="316373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column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3986693" y="2926080"/>
            <a:ext cx="738204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carries over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822960" y="3328416"/>
            <a:ext cx="10545775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822960" y="3419856"/>
            <a:ext cx="10545775" cy="472440"/>
          </a:xfrm>
          <a:prstGeom prst="rect">
            <a:avLst/>
          </a:prstGeom>
          <a:solidFill>
            <a:srgbClr val="ECFD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932688" y="3419856"/>
            <a:ext cx="3054005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cmr_num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3986693" y="3419856"/>
            <a:ext cx="7290603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key field — auto-number set in the IDO properties, increments every CMR automatically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822960" y="3892296"/>
            <a:ext cx="1054577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4"/>
          <p:cNvSpPr/>
          <p:nvPr/>
        </p:nvSpPr>
        <p:spPr>
          <a:xfrm>
            <a:off x="932688" y="3892296"/>
            <a:ext cx="3054005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Serial # + LOT #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3986693" y="3892296"/>
            <a:ext cx="7290603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Currently these are added in the notes section, but we want new fields for these commonly used field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822960" y="4364736"/>
            <a:ext cx="1054577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932688" y="4364736"/>
            <a:ext cx="3054005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 + item_description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3986693" y="4364736"/>
            <a:ext cx="7290603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 combo and description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822960" y="4837176"/>
            <a:ext cx="1054577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932688" y="4837176"/>
            <a:ext cx="3054005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 + wc + descriptions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3986693" y="4837176"/>
            <a:ext cx="7290603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 and WC combos with their descriptions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822960" y="5309616"/>
            <a:ext cx="1054577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932688" y="5309616"/>
            <a:ext cx="3054005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initial_change + 5 requirement checks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3986693" y="5309616"/>
            <a:ext cx="7290603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 Change plus Costing, Documentation, Material, Process, Tool/Machine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822960" y="5782056"/>
            <a:ext cx="1054577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932688" y="5782056"/>
            <a:ext cx="3054005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priority, due_date, note, reported by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3986693" y="5782056"/>
            <a:ext cx="7290603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combo, Due Date, Note, and Reported By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822960" y="6254496"/>
            <a:ext cx="1054577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" name="Image 0" descr="icons/wren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" y="845820"/>
            <a:ext cx="685800" cy="685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94560" y="502920"/>
            <a:ext cx="95399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Develop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2194560" y="1216152"/>
            <a:ext cx="95399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on staging / TRN first.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457200" y="2148840"/>
            <a:ext cx="11277295" cy="425196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 algn="bl" rotWithShape="0">
              <a:srgbClr val="1E293B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822960" y="2514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build steps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22960" y="2926080"/>
            <a:ext cx="1054577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buSzPct val="100000"/>
              <a:buChar char="■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the </a:t>
            </a: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ue_ecmr</a:t>
            </a: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SQL table</a:t>
            </a:r>
            <a:endParaRPr lang="en-US" sz="1500" dirty="0"/>
          </a:p>
          <a:p>
            <a:pPr marL="228600" indent="-228600">
              <a:buSzPct val="100000"/>
              <a:buChar char="■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</a:t>
            </a:r>
            <a:r>
              <a:rPr lang="en-US" sz="1500" b="1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ue_ecmrs</a:t>
            </a: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IDO - properties bulk-appended from CSV</a:t>
            </a:r>
            <a:endParaRPr lang="en-US" sz="1500" dirty="0"/>
          </a:p>
          <a:p>
            <a:pPr marL="228600" indent="-228600">
              <a:buSzPct val="100000"/>
              <a:buChar char="■"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cmr_num</a:t>
            </a: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auto-number set in the IDO properties - increments every CMR</a:t>
            </a:r>
            <a:endParaRPr lang="en-US" sz="1500" dirty="0"/>
          </a:p>
          <a:p>
            <a:pPr marL="228600" indent="-228600">
              <a:spcAft>
                <a:spcPts val="1600"/>
              </a:spcAft>
              <a:buSzPct val="100000"/>
              <a:buChar char="■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checkbox cascade logic</a:t>
            </a:r>
          </a:p>
          <a:p>
            <a:pPr marL="228600" indent="-228600">
              <a:spcAft>
                <a:spcPts val="1600"/>
              </a:spcAft>
              <a:buSzPct val="100000"/>
              <a:buChar char="■"/>
            </a:pPr>
            <a:r>
              <a:rPr lang="en-US" sz="1500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Syteline Tip &amp; Tricks (Review for technique on po creation)</a:t>
            </a:r>
            <a:endParaRPr lang="en-US" sz="1500" dirty="0">
              <a:solidFill>
                <a:srgbClr val="FF0000"/>
              </a:solidFill>
            </a:endParaRPr>
          </a:p>
          <a:p>
            <a:pPr marL="228600" indent="-228600">
              <a:spcAft>
                <a:spcPts val="1600"/>
              </a:spcAft>
              <a:buSzPct val="100000"/>
              <a:buChar char="■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the form XML through Form Sync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95399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Staging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457200" y="1216152"/>
            <a:ext cx="95399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Freeze the staged build and run final validation before production.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0362895" y="502920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icons/lay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5795" y="845820"/>
            <a:ext cx="685800" cy="6858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2148840"/>
            <a:ext cx="11277295" cy="425196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 algn="bl" rotWithShape="0">
              <a:srgbClr val="1E293B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822960" y="2514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staging approach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22960" y="2926080"/>
            <a:ext cx="365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234440" y="2926080"/>
            <a:ext cx="101342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the SQL table, then the IDO - Use AI to build the form in XML &amp; use Form Sync for imports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22960" y="3584448"/>
            <a:ext cx="365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234440" y="3584448"/>
            <a:ext cx="101342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exports/eCMRs_v1.XML via Form Sync only after the IDO is checked in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822960" y="4242816"/>
            <a:ext cx="365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234440" y="4242816"/>
            <a:ext cx="101342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on TRN first – then in production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822960" y="4901184"/>
            <a:ext cx="365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1234440" y="4901184"/>
            <a:ext cx="101342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full TRN test checklist before go-live: create path, persistence round-trip, Requirements checkbox cascade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457200" cy="4572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621792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Migrating the old CMR data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3258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Phase D decision that is still open — two options on the table.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457200" y="1965960"/>
            <a:ext cx="5501488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 algn="bl" rotWithShape="0">
              <a:srgbClr val="1E293B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77240" y="2203704"/>
            <a:ext cx="4861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Migrate the history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77240" y="2587752"/>
            <a:ext cx="48614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7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historical CMR data from </a:t>
            </a: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rs_cmr</a:t>
            </a: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</a:t>
            </a: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rs_crcvr</a:t>
            </a: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into the new table. Every field becomes its own real column on the standalone table, mapped per field-mapping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33008" y="1965960"/>
            <a:ext cx="5501488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 algn="bl" rotWithShape="0">
              <a:srgbClr val="1E293B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553048" y="2203704"/>
            <a:ext cx="4861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fresh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553048" y="2587752"/>
            <a:ext cx="48614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7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eCMRs goes live with new CMRs only. Legacy history stays queryable through the old screens and tables.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3895344"/>
            <a:ext cx="11277295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 algn="bl" rotWithShape="0">
              <a:srgbClr val="1E293B">
                <a:alpha val="8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22960" y="41605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to decide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22960" y="4507992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234440" y="4507992"/>
            <a:ext cx="101342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Numbering: historical rows carry their original numbers, but cmr_num auto-numbers on the IDO properties - how do the two coexist?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5056632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234440" y="5056632"/>
            <a:ext cx="101342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22960" y="5605272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234440" y="5605272"/>
            <a:ext cx="101342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" name="Image 0" descr="icons/rock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" y="845820"/>
            <a:ext cx="685800" cy="685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94560" y="502920"/>
            <a:ext cx="95399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Launch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2194560" y="1216152"/>
            <a:ext cx="95399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to production.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457200" y="2148840"/>
            <a:ext cx="11277295" cy="425196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 algn="bl" rotWithShape="0">
              <a:srgbClr val="1E293B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822960" y="2514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Phase D decisions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22960" y="2926080"/>
            <a:ext cx="365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234440" y="2926080"/>
            <a:ext cx="101342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eCMRs replaces </a:t>
            </a:r>
            <a:r>
              <a:rPr lang="en-US" sz="15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cmrs</a:t>
            </a: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form, create change request and change request management forms, it runs alongside it until the </a:t>
            </a:r>
            <a:r>
              <a:rPr lang="en-US" sz="15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cmrproject</a:t>
            </a: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retired once eCMRs is proven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22960" y="3703320"/>
            <a:ext cx="365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234440" y="3703320"/>
            <a:ext cx="101342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Migrate historical CMR data from rs_cmr/rs_crcvr, or start fresh with legacy history queryable through the old screens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822960" y="4480560"/>
            <a:ext cx="365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234440" y="4480560"/>
            <a:ext cx="101342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Retire Create Change Request, Change Request Management, and CMRs once live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95399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457200" y="1216152"/>
            <a:ext cx="95399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tests to make sure everything looks good.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0362895" y="502920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icons/se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5795" y="845820"/>
            <a:ext cx="685800" cy="6858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199" y="2148840"/>
            <a:ext cx="11277295" cy="425196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 algn="bl" rotWithShape="0">
              <a:srgbClr val="1E293B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822960" y="2514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Phase C test list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22960" y="2926080"/>
            <a:ext cx="1054577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600"/>
              </a:spcAft>
              <a:buSzPct val="100000"/>
              <a:buChar char="■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new CMR end-to-end</a:t>
            </a:r>
            <a:endParaRPr lang="en-US" sz="1500" dirty="0"/>
          </a:p>
          <a:p>
            <a:pPr marL="228600" indent="-228600">
              <a:spcAft>
                <a:spcPts val="1600"/>
              </a:spcAft>
              <a:buSzPct val="100000"/>
              <a:buChar char="■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and reopen</a:t>
            </a:r>
            <a:endParaRPr lang="en-US" sz="1500" dirty="0"/>
          </a:p>
          <a:p>
            <a:pPr marL="228600" indent="-228600">
              <a:spcAft>
                <a:spcPts val="1600"/>
              </a:spcAft>
              <a:buSzPct val="100000"/>
              <a:buChar char="■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numbering has no race condition</a:t>
            </a:r>
            <a:endParaRPr lang="en-US" sz="1500" dirty="0"/>
          </a:p>
          <a:p>
            <a:pPr marL="228600" indent="-228600">
              <a:spcAft>
                <a:spcPts val="1600"/>
              </a:spcAft>
              <a:buSzPct val="100000"/>
              <a:buChar char="■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the flow meets requirements</a:t>
            </a:r>
            <a:endParaRPr lang="en-US" sz="1500" dirty="0"/>
          </a:p>
          <a:p>
            <a:pPr marL="228600" indent="-228600">
              <a:spcAft>
                <a:spcPts val="1600"/>
              </a:spcAft>
              <a:buSzPct val="100000"/>
              <a:buChar char="■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all fields + lookup fields work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4114800"/>
            <a:ext cx="5486400" cy="5486400"/>
          </a:xfrm>
          <a:prstGeom prst="ellipse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9601200" y="-1371600"/>
            <a:ext cx="4572000" cy="4572000"/>
          </a:xfrm>
          <a:prstGeom prst="ellipse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5410048" y="502920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icons/gear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2948" y="845820"/>
            <a:ext cx="685800" cy="685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0" y="2011680"/>
            <a:ext cx="12191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Optimize</a:t>
            </a:r>
            <a:endParaRPr lang="en-US" sz="4800" dirty="0"/>
          </a:p>
        </p:txBody>
      </p:sp>
      <p:sp>
        <p:nvSpPr>
          <p:cNvPr id="7" name="Text 4"/>
          <p:cNvSpPr/>
          <p:nvPr/>
        </p:nvSpPr>
        <p:spPr>
          <a:xfrm>
            <a:off x="1371600" y="2880360"/>
            <a:ext cx="94484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weeks of optimization, working closely with the in-house team.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457200" y="3749040"/>
            <a:ext cx="11277295" cy="2651760"/>
          </a:xfrm>
          <a:prstGeom prst="roundRect">
            <a:avLst>
              <a:gd name="adj" fmla="val 4138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822960" y="404164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optimization backlog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22960" y="4434840"/>
            <a:ext cx="1054577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■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and track all issues with each team using the form</a:t>
            </a:r>
          </a:p>
          <a:p>
            <a:pPr marL="228600" indent="-228600">
              <a:buSzPct val="100000"/>
              <a:buChar char="■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 any bugs &amp; no critical paths are blocking us from normal work flows</a:t>
            </a:r>
          </a:p>
          <a:p>
            <a:pPr marL="228600" indent="-228600">
              <a:buSzPct val="100000"/>
              <a:buChar char="■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on procedure documentation changes </a:t>
            </a:r>
          </a:p>
          <a:p>
            <a:pPr marL="228600" indent="-228600">
              <a:buSzPct val="100000"/>
              <a:buChar char="■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procedures for manager approval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" name="Image 0" descr="icons/ta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" y="845820"/>
            <a:ext cx="685800" cy="685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94560" y="502920"/>
            <a:ext cx="95399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current CMR process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2194560" y="1216152"/>
            <a:ext cx="95399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Change Request → Change Request Management → CMR — the three-form workflow today.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457200" y="2148840"/>
            <a:ext cx="11277295" cy="425196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 algn="bl" rotWithShape="0">
              <a:srgbClr val="1E293B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822960" y="2514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current process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22960" y="2926080"/>
            <a:ext cx="10545775" cy="33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■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emails a PIR (Job, Serial #, Top Level PN, Sub Assembly PN, Part, Issue); Jasmine decides </a:t>
            </a: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CMR</a:t>
            </a: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vs. </a:t>
            </a: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TRR</a:t>
            </a: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vs. </a:t>
            </a: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MRR</a:t>
            </a: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based on the issue.</a:t>
            </a:r>
            <a:endParaRPr lang="en-US" sz="1500" dirty="0"/>
          </a:p>
          <a:p>
            <a:pPr marL="228600" indent="-228600">
              <a:spcAft>
                <a:spcPts val="1400"/>
              </a:spcAft>
              <a:buSzPct val="100000"/>
              <a:buChar char="■"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Change Request</a:t>
            </a: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Priority, Initial Change, Requested By.</a:t>
            </a:r>
            <a:endParaRPr lang="en-US" sz="1500" dirty="0"/>
          </a:p>
          <a:p>
            <a:pPr marL="228600" indent="-228600">
              <a:spcAft>
                <a:spcPts val="1400"/>
              </a:spcAft>
              <a:buSzPct val="100000"/>
              <a:buChar char="■"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Request Management</a:t>
            </a: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everything’s already filled in — she just grabs the CMR Number it generated.</a:t>
            </a:r>
            <a:endParaRPr lang="en-US" sz="1500" dirty="0"/>
          </a:p>
          <a:p>
            <a:pPr marL="228600" indent="-228600">
              <a:spcAft>
                <a:spcPts val="1400"/>
              </a:spcAft>
              <a:buSzPct val="100000"/>
              <a:buChar char="■"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CMR Form</a:t>
            </a: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assign engineering, pull Item/Revision from the drawing books, Disposition starts </a:t>
            </a: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Hold</a:t>
            </a: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RCA notes copied from the intake email (Serial #/LOT # currently get copied into the Notes here too).</a:t>
            </a:r>
            <a:endParaRPr lang="en-US" sz="1500" dirty="0"/>
          </a:p>
          <a:p>
            <a:pPr marL="228600" indent="-228600">
              <a:spcAft>
                <a:spcPts val="1400"/>
              </a:spcAft>
              <a:buSzPct val="100000"/>
              <a:buChar char="■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Save, notify engineering (follow up after 24 hrs), then send the CMR Number back to the requester.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" name="Image 0" descr="icons/fl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" y="845820"/>
            <a:ext cx="685800" cy="685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94560" y="502920"/>
            <a:ext cx="95399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Today’s process flow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2194560" y="1216152"/>
            <a:ext cx="95399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 CMR moves through the current three-form process, start to finish.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457200" y="2148840"/>
            <a:ext cx="11277295" cy="425196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 algn="bl" rotWithShape="0">
              <a:srgbClr val="1E293B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822960" y="2514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process flow</a:t>
            </a:r>
            <a:endParaRPr lang="en-US" sz="1500" dirty="0"/>
          </a:p>
        </p:txBody>
      </p:sp>
      <p:sp>
        <p:nvSpPr>
          <p:cNvPr id="100" name="Shape 100"/>
          <p:cNvSpPr/>
          <p:nvPr/>
        </p:nvSpPr>
        <p:spPr>
          <a:xfrm>
            <a:off x="822960" y="2926080"/>
            <a:ext cx="1490929" cy="1828800"/>
          </a:xfrm>
          <a:prstGeom prst="roundRect">
            <a:avLst>
              <a:gd name="adj" fmla="val 443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1" name="Text 101"/>
          <p:cNvSpPr/>
          <p:nvPr/>
        </p:nvSpPr>
        <p:spPr>
          <a:xfrm>
            <a:off x="987552" y="3090672"/>
            <a:ext cx="116174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PIR Email</a:t>
            </a:r>
            <a:endParaRPr lang="en-US" sz="140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Job, Serial #, PN, Part, Issue from Production</a:t>
            </a:r>
            <a:endParaRPr lang="en-US" sz="1400" dirty="0"/>
          </a:p>
        </p:txBody>
      </p:sp>
      <p:sp>
        <p:nvSpPr>
          <p:cNvPr id="102" name="Text 102"/>
          <p:cNvSpPr/>
          <p:nvPr/>
        </p:nvSpPr>
        <p:spPr>
          <a:xfrm>
            <a:off x="2313889" y="2926080"/>
            <a:ext cx="320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03" name="Shape 103"/>
          <p:cNvSpPr/>
          <p:nvPr/>
        </p:nvSpPr>
        <p:spPr>
          <a:xfrm>
            <a:off x="2633929" y="2926080"/>
            <a:ext cx="1490929" cy="1828800"/>
          </a:xfrm>
          <a:prstGeom prst="roundRect">
            <a:avLst>
              <a:gd name="adj" fmla="val 443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4" name="Text 104"/>
          <p:cNvSpPr/>
          <p:nvPr/>
        </p:nvSpPr>
        <p:spPr>
          <a:xfrm>
            <a:off x="2798521" y="3090672"/>
            <a:ext cx="116174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</a:t>
            </a:r>
            <a:endParaRPr lang="en-US" sz="140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Jasmine decides CMR vs. TRR vs. MRR</a:t>
            </a:r>
            <a:endParaRPr lang="en-US" sz="1400" dirty="0"/>
          </a:p>
        </p:txBody>
      </p:sp>
      <p:sp>
        <p:nvSpPr>
          <p:cNvPr id="105" name="Text 105"/>
          <p:cNvSpPr/>
          <p:nvPr/>
        </p:nvSpPr>
        <p:spPr>
          <a:xfrm>
            <a:off x="4124858" y="2926080"/>
            <a:ext cx="320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06" name="Shape 106"/>
          <p:cNvSpPr/>
          <p:nvPr/>
        </p:nvSpPr>
        <p:spPr>
          <a:xfrm>
            <a:off x="4444898" y="2926080"/>
            <a:ext cx="1490929" cy="1828800"/>
          </a:xfrm>
          <a:prstGeom prst="roundRect">
            <a:avLst>
              <a:gd name="adj" fmla="val 443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7" name="Text 107"/>
          <p:cNvSpPr/>
          <p:nvPr/>
        </p:nvSpPr>
        <p:spPr>
          <a:xfrm>
            <a:off x="4609490" y="3090672"/>
            <a:ext cx="116174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Change Request</a:t>
            </a:r>
            <a:endParaRPr lang="en-US" sz="140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Priority, Initial Change, Requested By</a:t>
            </a:r>
            <a:endParaRPr lang="en-US" sz="1400" dirty="0"/>
          </a:p>
        </p:txBody>
      </p:sp>
      <p:sp>
        <p:nvSpPr>
          <p:cNvPr id="108" name="Text 108"/>
          <p:cNvSpPr/>
          <p:nvPr/>
        </p:nvSpPr>
        <p:spPr>
          <a:xfrm>
            <a:off x="5935827" y="2926080"/>
            <a:ext cx="320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09" name="Shape 109"/>
          <p:cNvSpPr/>
          <p:nvPr/>
        </p:nvSpPr>
        <p:spPr>
          <a:xfrm>
            <a:off x="6255867" y="2926080"/>
            <a:ext cx="1490929" cy="1828800"/>
          </a:xfrm>
          <a:prstGeom prst="roundRect">
            <a:avLst>
              <a:gd name="adj" fmla="val 443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0" name="Text 110"/>
          <p:cNvSpPr/>
          <p:nvPr/>
        </p:nvSpPr>
        <p:spPr>
          <a:xfrm>
            <a:off x="6420459" y="3090672"/>
            <a:ext cx="116174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Request Mgmt</a:t>
            </a:r>
            <a:endParaRPr lang="en-US" sz="140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Grab the CMR Number</a:t>
            </a:r>
            <a:endParaRPr lang="en-US" sz="1400" dirty="0"/>
          </a:p>
        </p:txBody>
      </p:sp>
      <p:sp>
        <p:nvSpPr>
          <p:cNvPr id="111" name="Text 111"/>
          <p:cNvSpPr/>
          <p:nvPr/>
        </p:nvSpPr>
        <p:spPr>
          <a:xfrm>
            <a:off x="7746796" y="2926080"/>
            <a:ext cx="320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12" name="Shape 112"/>
          <p:cNvSpPr/>
          <p:nvPr/>
        </p:nvSpPr>
        <p:spPr>
          <a:xfrm>
            <a:off x="8066836" y="2926080"/>
            <a:ext cx="1490929" cy="1828800"/>
          </a:xfrm>
          <a:prstGeom prst="roundRect">
            <a:avLst>
              <a:gd name="adj" fmla="val 443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3" name="Text 113"/>
          <p:cNvSpPr/>
          <p:nvPr/>
        </p:nvSpPr>
        <p:spPr>
          <a:xfrm>
            <a:off x="8231428" y="3090672"/>
            <a:ext cx="116174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CMR Form</a:t>
            </a:r>
            <a:endParaRPr lang="en-US" sz="140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Engineering, Item/Revision, On Hold</a:t>
            </a:r>
            <a:endParaRPr lang="en-US" sz="1400" dirty="0"/>
          </a:p>
        </p:txBody>
      </p:sp>
      <p:sp>
        <p:nvSpPr>
          <p:cNvPr id="114" name="Text 114"/>
          <p:cNvSpPr/>
          <p:nvPr/>
        </p:nvSpPr>
        <p:spPr>
          <a:xfrm>
            <a:off x="9557765" y="2926080"/>
            <a:ext cx="320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15" name="Shape 115"/>
          <p:cNvSpPr/>
          <p:nvPr/>
        </p:nvSpPr>
        <p:spPr>
          <a:xfrm>
            <a:off x="9877805" y="2926080"/>
            <a:ext cx="1490929" cy="1828800"/>
          </a:xfrm>
          <a:prstGeom prst="roundRect">
            <a:avLst>
              <a:gd name="adj" fmla="val 443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6" name="Text 116"/>
          <p:cNvSpPr/>
          <p:nvPr/>
        </p:nvSpPr>
        <p:spPr>
          <a:xfrm>
            <a:off x="10042397" y="3090672"/>
            <a:ext cx="116174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Notify &amp; Close</a:t>
            </a:r>
            <a:endParaRPr lang="en-US" sz="140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Save, notify engineering, send CMR #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</TotalTime>
  <Words>709</Words>
  <Application>Microsoft Office PowerPoint</Application>
  <PresentationFormat>Widescreen</PresentationFormat>
  <Paragraphs>125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Jake Smith</cp:lastModifiedBy>
  <cp:revision>12</cp:revision>
  <dcterms:created xsi:type="dcterms:W3CDTF">2026-09-21T13:20:12Z</dcterms:created>
  <dcterms:modified xsi:type="dcterms:W3CDTF">2026-09-21T14:15:16Z</dcterms:modified>
</cp:coreProperties>
</file>