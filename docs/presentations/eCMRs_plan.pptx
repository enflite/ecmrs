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6" r:id="rId6"/>
    <p:sldId id="259" r:id="rId7"/>
    <p:sldId id="268" r:id="rId8"/>
    <p:sldId id="269" r:id="rId21"/>
    <p:sldId id="260" r:id="rId10"/>
    <p:sldId id="261" r:id="rId11"/>
    <p:sldId id="263" r:id="rId12"/>
    <p:sldId id="262" r:id="rId13"/>
    <p:sldId id="264" r:id="rId14"/>
    <p:sldId id="265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1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3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14" Type="http://schemas.openxmlformats.org/officeDocument/2006/relationships/slide" Target="slides/slide13.xml"/>  <Relationship Id="rId21" Type="http://schemas.openxmlformats.org/officeDocument/2006/relationships/slide" Target="slides/slide15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82034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Enflite Logo" descr="Enflite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"/>
            <a:ext cx="2743200" cy="572798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8778240" y="-1097280"/>
            <a:ext cx="4754880" cy="4754880"/>
          </a:xfrm>
          <a:prstGeom prst="ellipse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5720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PLAN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CMRs plan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457200" y="5989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QCS - standalone Change Management Request rebuild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6144216"/>
          </a:xfrm>
          <a:prstGeom prst="roundRect">
            <a:avLst>
              <a:gd name="adj" fmla="val 184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Eight milestones to production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 at a glance — each phase in order.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060704" y="2340864"/>
            <a:ext cx="0" cy="386400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7048" y="209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270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68680" y="270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27048" y="264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8680" y="325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8680" y="325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27048" y="319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 — never directly in production.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68680" y="3804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68680" y="380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7048" y="3749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700" dirty="0"/>
          </a:p>
        </p:txBody>
      </p:sp>
      <p:sp>
        <p:nvSpPr>
          <p:cNvPr id="101" name="Shape 101"/>
          <p:cNvSpPr/>
          <p:nvPr/>
        </p:nvSpPr>
        <p:spPr>
          <a:xfrm>
            <a:off x="868680" y="4356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2" name="Text 102"/>
          <p:cNvSpPr/>
          <p:nvPr/>
        </p:nvSpPr>
        <p:spPr>
          <a:xfrm>
            <a:off x="868680" y="4356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03" name="Text 103"/>
          <p:cNvSpPr/>
          <p:nvPr/>
        </p:nvSpPr>
        <p:spPr>
          <a:xfrm>
            <a:off x="1527048" y="4301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historical CMR data into the new table, or decide to start fresh.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868680" y="4908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8680" y="490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27048" y="4853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5460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68680" y="5460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527048" y="5405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868680" y="6012840"/>
            <a:ext cx="384048" cy="384048"/>
          </a:xfrm>
          <a:prstGeom prst="ellipse">
            <a:avLst/>
          </a:prstGeom>
          <a:noFill/>
          <a:ln w="1905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68680" y="6012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27048" y="5957976"/>
            <a:ext cx="9144000" cy="55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7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Scope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high-level outline flows to strategize the approach.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352" y="2139215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phase flow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98755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confirmed requirements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471257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1297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955889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A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model: one standalone table + IDO, zero dependencies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9595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759635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924227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B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Form: build the eCMRs form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07932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727972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892564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C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376270" y="2926080"/>
            <a:ext cx="320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F0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696310" y="2926080"/>
            <a:ext cx="1648297" cy="1828800"/>
          </a:xfrm>
          <a:prstGeom prst="roundRect">
            <a:avLst>
              <a:gd name="adj" fmla="val 4438"/>
            </a:avLst>
          </a:prstGeom>
          <a:solidFill>
            <a:srgbClr val="F7F7F7"/>
          </a:solidFill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8860902" y="3090672"/>
            <a:ext cx="1319113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</a:t>
            </a:r>
            <a:endParaRPr lang="en-US" sz="14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clip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BRD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requirements, confirmed from the signed CMR Development SOW.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requirements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3474720"/>
          </a:xfrm>
          <a:prstGeom prst="rect">
            <a:avLst/>
          </a:prstGeom>
          <a:noFill/>
          <a:ln/>
        </p:spPr>
        <p:txBody>
          <a:bodyPr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 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not dependent on Create Change Request/Change Request Management existing first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 from existing CMR entries into the new form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custom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and Cause Codes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a new Ref Type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for CMR Reason/Cause selection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fields from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 that will be needed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additional fields such as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JOB, Serial#, Lot#, Top Level PN, Sub Assembly, Part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CMR needs a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can be used to reference the working CMR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The current CMR process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 → Change Request Management → CMR — the three-form workflow today.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0946" y="2418347"/>
            <a:ext cx="7050507" cy="3982453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457200" y="20715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current process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199" y="2743200"/>
            <a:ext cx="6725653" cy="35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emails a PIR (Job, Serial #, Top Level PN, Sub Assembly PN, Part, Issue); </a:t>
            </a:r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Change Request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Priority, Initial Change, Requested By.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Request Management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everything’s already filled in – they just capture the CMR Number it generated.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 Form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assign engineering, pull Item/Revision from the drawing books, Disposition starts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Hold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RCA notes copied from the intake email (Serial #/LOT # currently get copied into the Notes here too).</a:t>
            </a:r>
            <a:endParaRPr lang="en-US" sz="1500" dirty="0"/>
          </a:p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Save, notify engineering (follow up after 24 hrs), then send the CMR Number back to the requester.</a:t>
            </a:r>
            <a:endParaRPr lang="en-US" sz="15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6A3AA-1751-7994-8D3D-EA16944CF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527" y="1640425"/>
            <a:ext cx="5473569" cy="290536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38A9BE8-2779-A6A5-799C-3F5EA44B6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3026" y="2869241"/>
            <a:ext cx="3683195" cy="3756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field that needs to come over in the migration.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field mapping — from Create Change Request </a:t>
            </a:r>
            <a:endParaRPr lang="en-US" sz="1500" dirty="0"/>
          </a:p>
        </p:txBody>
      </p:sp>
      <p:sp>
        <p:nvSpPr>
          <p:cNvPr id="100" name="Header Field 0"/>
          <p:cNvSpPr/>
          <p:nvPr/>
        </p:nvSpPr>
        <p:spPr>
          <a:xfrm>
            <a:off x="82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101" name="Header What 0"/>
          <p:cNvSpPr/>
          <p:nvPr/>
        </p:nvSpPr>
        <p:spPr>
          <a:xfrm>
            <a:off x="237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102" name="HeaderDivider 0"/>
          <p:cNvSpPr/>
          <p:nvPr/>
        </p:nvSpPr>
        <p:spPr>
          <a:xfrm>
            <a:off x="82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3" name="Header Field 1"/>
          <p:cNvSpPr/>
          <p:nvPr/>
        </p:nvSpPr>
        <p:spPr>
          <a:xfrm>
            <a:off x="6172960" y="2926080"/>
            <a:ext cx="14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1150" dirty="0"/>
          </a:p>
        </p:txBody>
      </p:sp>
      <p:sp>
        <p:nvSpPr>
          <p:cNvPr id="104" name="Header What 1"/>
          <p:cNvSpPr/>
          <p:nvPr/>
        </p:nvSpPr>
        <p:spPr>
          <a:xfrm>
            <a:off x="7722960" y="2926080"/>
            <a:ext cx="34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150" dirty="0"/>
          </a:p>
        </p:txBody>
      </p:sp>
      <p:sp>
        <p:nvSpPr>
          <p:cNvPr id="105" name="HeaderDivider 1"/>
          <p:cNvSpPr/>
          <p:nvPr/>
        </p:nvSpPr>
        <p:spPr>
          <a:xfrm>
            <a:off x="6172960" y="325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6" name="Field 0 cmr_num"/>
          <p:cNvSpPr/>
          <p:nvPr/>
        </p:nvSpPr>
        <p:spPr>
          <a:xfrm>
            <a:off x="822960" y="328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endParaRPr lang="en-US" sz="1100" dirty="0"/>
          </a:p>
        </p:txBody>
      </p:sp>
      <p:sp>
        <p:nvSpPr>
          <p:cNvPr id="107" name="Desc 0 cmr_num"/>
          <p:cNvSpPr/>
          <p:nvPr/>
        </p:nvSpPr>
        <p:spPr>
          <a:xfrm>
            <a:off x="2372960" y="328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field, auto-numbers in the IDO properties every CMR</a:t>
            </a:r>
            <a:endParaRPr lang="en-US" sz="1100" dirty="0"/>
          </a:p>
        </p:txBody>
      </p:sp>
      <p:sp>
        <p:nvSpPr>
          <p:cNvPr id="108" name="Divider 0 cmr_num"/>
          <p:cNvSpPr/>
          <p:nvPr/>
        </p:nvSpPr>
        <p:spPr>
          <a:xfrm>
            <a:off x="822960" y="36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9" name="Field 0 item"/>
          <p:cNvSpPr/>
          <p:nvPr/>
        </p:nvSpPr>
        <p:spPr>
          <a:xfrm>
            <a:off x="822960" y="360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</a:t>
            </a:r>
            <a:endParaRPr lang="en-US" sz="1100" dirty="0"/>
          </a:p>
        </p:txBody>
      </p:sp>
      <p:sp>
        <p:nvSpPr>
          <p:cNvPr id="110" name="Desc 0 item"/>
          <p:cNvSpPr/>
          <p:nvPr/>
        </p:nvSpPr>
        <p:spPr>
          <a:xfrm>
            <a:off x="2372960" y="360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combo, SLItems list source</a:t>
            </a:r>
            <a:endParaRPr lang="en-US" sz="1100" dirty="0"/>
          </a:p>
        </p:txBody>
      </p:sp>
      <p:sp>
        <p:nvSpPr>
          <p:cNvPr id="111" name="Divider 0 item"/>
          <p:cNvSpPr/>
          <p:nvPr/>
        </p:nvSpPr>
        <p:spPr>
          <a:xfrm>
            <a:off x="822960" y="39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Field 0 item_description"/>
          <p:cNvSpPr/>
          <p:nvPr/>
        </p:nvSpPr>
        <p:spPr>
          <a:xfrm>
            <a:off x="822960" y="392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item_description</a:t>
            </a:r>
            <a:endParaRPr lang="en-US" sz="1100" dirty="0"/>
          </a:p>
        </p:txBody>
      </p:sp>
      <p:sp>
        <p:nvSpPr>
          <p:cNvPr id="113" name="Desc 0 item_description"/>
          <p:cNvSpPr/>
          <p:nvPr/>
        </p:nvSpPr>
        <p:spPr>
          <a:xfrm>
            <a:off x="2372960" y="392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114" name="Divider 0 item_description"/>
          <p:cNvSpPr/>
          <p:nvPr/>
        </p:nvSpPr>
        <p:spPr>
          <a:xfrm>
            <a:off x="822960" y="42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5" name="Field 0 dept"/>
          <p:cNvSpPr/>
          <p:nvPr/>
        </p:nvSpPr>
        <p:spPr>
          <a:xfrm>
            <a:off x="822960" y="424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</a:t>
            </a:r>
            <a:endParaRPr lang="en-US" sz="1100" dirty="0"/>
          </a:p>
        </p:txBody>
      </p:sp>
      <p:sp>
        <p:nvSpPr>
          <p:cNvPr id="116" name="Desc 0 dept"/>
          <p:cNvSpPr/>
          <p:nvPr/>
        </p:nvSpPr>
        <p:spPr>
          <a:xfrm>
            <a:off x="2372960" y="424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 combo, SLDepts list source</a:t>
            </a:r>
            <a:endParaRPr lang="en-US" sz="1100" dirty="0"/>
          </a:p>
        </p:txBody>
      </p:sp>
      <p:sp>
        <p:nvSpPr>
          <p:cNvPr id="117" name="Divider 0 dept"/>
          <p:cNvSpPr/>
          <p:nvPr/>
        </p:nvSpPr>
        <p:spPr>
          <a:xfrm>
            <a:off x="822960" y="45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8" name="Field 0 dept_description"/>
          <p:cNvSpPr/>
          <p:nvPr/>
        </p:nvSpPr>
        <p:spPr>
          <a:xfrm>
            <a:off x="822960" y="456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dept_description</a:t>
            </a:r>
            <a:endParaRPr lang="en-US" sz="1100" dirty="0"/>
          </a:p>
        </p:txBody>
      </p:sp>
      <p:sp>
        <p:nvSpPr>
          <p:cNvPr id="119" name="Desc 0 dept_description"/>
          <p:cNvSpPr/>
          <p:nvPr/>
        </p:nvSpPr>
        <p:spPr>
          <a:xfrm>
            <a:off x="2372960" y="456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120" name="Divider 0 dept_description"/>
          <p:cNvSpPr/>
          <p:nvPr/>
        </p:nvSpPr>
        <p:spPr>
          <a:xfrm>
            <a:off x="822960" y="48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1" name="Field 0 wc"/>
          <p:cNvSpPr/>
          <p:nvPr/>
        </p:nvSpPr>
        <p:spPr>
          <a:xfrm>
            <a:off x="822960" y="488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</a:t>
            </a:r>
            <a:endParaRPr lang="en-US" sz="1100" dirty="0"/>
          </a:p>
        </p:txBody>
      </p:sp>
      <p:sp>
        <p:nvSpPr>
          <p:cNvPr id="122" name="Desc 0 wc"/>
          <p:cNvSpPr/>
          <p:nvPr/>
        </p:nvSpPr>
        <p:spPr>
          <a:xfrm>
            <a:off x="2372960" y="488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Center combo, SLWcs list source</a:t>
            </a:r>
            <a:endParaRPr lang="en-US" sz="1100" dirty="0"/>
          </a:p>
        </p:txBody>
      </p:sp>
      <p:sp>
        <p:nvSpPr>
          <p:cNvPr id="123" name="Divider 0 wc"/>
          <p:cNvSpPr/>
          <p:nvPr/>
        </p:nvSpPr>
        <p:spPr>
          <a:xfrm>
            <a:off x="822960" y="52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4" name="Field 0 wc_description"/>
          <p:cNvSpPr/>
          <p:nvPr/>
        </p:nvSpPr>
        <p:spPr>
          <a:xfrm>
            <a:off x="822960" y="520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wc_description</a:t>
            </a:r>
            <a:endParaRPr lang="en-US" sz="1100" dirty="0"/>
          </a:p>
        </p:txBody>
      </p:sp>
      <p:sp>
        <p:nvSpPr>
          <p:cNvPr id="125" name="Desc 0 wc_description"/>
          <p:cNvSpPr/>
          <p:nvPr/>
        </p:nvSpPr>
        <p:spPr>
          <a:xfrm>
            <a:off x="2372960" y="520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auto-fills via DefaultFrom</a:t>
            </a:r>
            <a:endParaRPr lang="en-US" sz="1100" dirty="0"/>
          </a:p>
        </p:txBody>
      </p:sp>
      <p:sp>
        <p:nvSpPr>
          <p:cNvPr id="126" name="Divider 0 wc_description"/>
          <p:cNvSpPr/>
          <p:nvPr/>
        </p:nvSpPr>
        <p:spPr>
          <a:xfrm>
            <a:off x="822960" y="55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7" name="Field 0 initial_change"/>
          <p:cNvSpPr/>
          <p:nvPr/>
        </p:nvSpPr>
        <p:spPr>
          <a:xfrm>
            <a:off x="822960" y="552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initial_change</a:t>
            </a:r>
            <a:endParaRPr lang="en-US" sz="1100" dirty="0"/>
          </a:p>
        </p:txBody>
      </p:sp>
      <p:sp>
        <p:nvSpPr>
          <p:cNvPr id="128" name="Desc 0 initial_change"/>
          <p:cNvSpPr/>
          <p:nvPr/>
        </p:nvSpPr>
        <p:spPr>
          <a:xfrm>
            <a:off x="2372960" y="552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the Requirements checkbox cascade</a:t>
            </a:r>
            <a:endParaRPr lang="en-US" sz="1100" dirty="0"/>
          </a:p>
        </p:txBody>
      </p:sp>
      <p:sp>
        <p:nvSpPr>
          <p:cNvPr id="129" name="Divider 0 initial_change"/>
          <p:cNvSpPr/>
          <p:nvPr/>
        </p:nvSpPr>
        <p:spPr>
          <a:xfrm>
            <a:off x="822960" y="58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0" name="Field 0 req_costing"/>
          <p:cNvSpPr/>
          <p:nvPr/>
        </p:nvSpPr>
        <p:spPr>
          <a:xfrm>
            <a:off x="822960" y="584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req_costing</a:t>
            </a:r>
            <a:endParaRPr lang="en-US" sz="1100" dirty="0"/>
          </a:p>
        </p:txBody>
      </p:sp>
      <p:sp>
        <p:nvSpPr>
          <p:cNvPr id="131" name="Desc 0 req_costing"/>
          <p:cNvSpPr/>
          <p:nvPr/>
        </p:nvSpPr>
        <p:spPr>
          <a:xfrm>
            <a:off x="2372960" y="584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Costing</a:t>
            </a:r>
            <a:endParaRPr lang="en-US" sz="1100" dirty="0"/>
          </a:p>
        </p:txBody>
      </p:sp>
      <p:sp>
        <p:nvSpPr>
          <p:cNvPr id="132" name="Divider 0 req_costing"/>
          <p:cNvSpPr/>
          <p:nvPr/>
        </p:nvSpPr>
        <p:spPr>
          <a:xfrm>
            <a:off x="822960" y="61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3" name="Field 0 req_documentation"/>
          <p:cNvSpPr/>
          <p:nvPr/>
        </p:nvSpPr>
        <p:spPr>
          <a:xfrm>
            <a:off x="822960" y="616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req_documentation</a:t>
            </a:r>
            <a:endParaRPr lang="en-US" sz="1100" dirty="0"/>
          </a:p>
        </p:txBody>
      </p:sp>
      <p:sp>
        <p:nvSpPr>
          <p:cNvPr id="134" name="Desc 0 req_documentation"/>
          <p:cNvSpPr/>
          <p:nvPr/>
        </p:nvSpPr>
        <p:spPr>
          <a:xfrm>
            <a:off x="2372960" y="616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Documentation</a:t>
            </a:r>
            <a:endParaRPr lang="en-US" sz="1100" dirty="0"/>
          </a:p>
        </p:txBody>
      </p:sp>
      <p:sp>
        <p:nvSpPr>
          <p:cNvPr id="135" name="Divider 0 req_documentation"/>
          <p:cNvSpPr/>
          <p:nvPr/>
        </p:nvSpPr>
        <p:spPr>
          <a:xfrm>
            <a:off x="822960" y="64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6" name="Field 1 req_material"/>
          <p:cNvSpPr/>
          <p:nvPr/>
        </p:nvSpPr>
        <p:spPr>
          <a:xfrm>
            <a:off x="6172960" y="328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req_material</a:t>
            </a:r>
            <a:endParaRPr lang="en-US" sz="1100" dirty="0"/>
          </a:p>
        </p:txBody>
      </p:sp>
      <p:sp>
        <p:nvSpPr>
          <p:cNvPr id="137" name="Desc 1 req_material"/>
          <p:cNvSpPr/>
          <p:nvPr/>
        </p:nvSpPr>
        <p:spPr>
          <a:xfrm>
            <a:off x="7722960" y="328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Material</a:t>
            </a:r>
            <a:endParaRPr lang="en-US" sz="1100" dirty="0"/>
          </a:p>
        </p:txBody>
      </p:sp>
      <p:sp>
        <p:nvSpPr>
          <p:cNvPr id="138" name="Divider 1 req_material"/>
          <p:cNvSpPr/>
          <p:nvPr/>
        </p:nvSpPr>
        <p:spPr>
          <a:xfrm>
            <a:off x="6172960" y="36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9" name="Field 1 req_process"/>
          <p:cNvSpPr/>
          <p:nvPr/>
        </p:nvSpPr>
        <p:spPr>
          <a:xfrm>
            <a:off x="6172960" y="360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req_process</a:t>
            </a:r>
            <a:endParaRPr lang="en-US" sz="1100" dirty="0"/>
          </a:p>
        </p:txBody>
      </p:sp>
      <p:sp>
        <p:nvSpPr>
          <p:cNvPr id="140" name="Desc 1 req_process"/>
          <p:cNvSpPr/>
          <p:nvPr/>
        </p:nvSpPr>
        <p:spPr>
          <a:xfrm>
            <a:off x="7722960" y="360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Process</a:t>
            </a:r>
            <a:endParaRPr lang="en-US" sz="1100" dirty="0"/>
          </a:p>
        </p:txBody>
      </p:sp>
      <p:sp>
        <p:nvSpPr>
          <p:cNvPr id="141" name="Divider 1 req_process"/>
          <p:cNvSpPr/>
          <p:nvPr/>
        </p:nvSpPr>
        <p:spPr>
          <a:xfrm>
            <a:off x="6172960" y="39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2" name="Field 1 req_tool_machine"/>
          <p:cNvSpPr/>
          <p:nvPr/>
        </p:nvSpPr>
        <p:spPr>
          <a:xfrm>
            <a:off x="6172960" y="392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req_tool_machine</a:t>
            </a:r>
            <a:endParaRPr lang="en-US" sz="1100" dirty="0"/>
          </a:p>
        </p:txBody>
      </p:sp>
      <p:sp>
        <p:nvSpPr>
          <p:cNvPr id="143" name="Desc 1 req_tool_machine"/>
          <p:cNvSpPr/>
          <p:nvPr/>
        </p:nvSpPr>
        <p:spPr>
          <a:xfrm>
            <a:off x="7722960" y="392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checkbox: Tool/Machine</a:t>
            </a:r>
            <a:endParaRPr lang="en-US" sz="1100" dirty="0"/>
          </a:p>
        </p:txBody>
      </p:sp>
      <p:sp>
        <p:nvSpPr>
          <p:cNvPr id="144" name="Divider 1 req_tool_machine"/>
          <p:cNvSpPr/>
          <p:nvPr/>
        </p:nvSpPr>
        <p:spPr>
          <a:xfrm>
            <a:off x="6172960" y="42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5" name="Field 1 priority"/>
          <p:cNvSpPr/>
          <p:nvPr/>
        </p:nvSpPr>
        <p:spPr>
          <a:xfrm>
            <a:off x="6172960" y="424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100" dirty="0"/>
          </a:p>
        </p:txBody>
      </p:sp>
      <p:sp>
        <p:nvSpPr>
          <p:cNvPr id="146" name="Desc 1 priority"/>
          <p:cNvSpPr/>
          <p:nvPr/>
        </p:nvSpPr>
        <p:spPr>
          <a:xfrm>
            <a:off x="7722960" y="424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combo</a:t>
            </a:r>
            <a:endParaRPr lang="en-US" sz="1100" dirty="0"/>
          </a:p>
        </p:txBody>
      </p:sp>
      <p:sp>
        <p:nvSpPr>
          <p:cNvPr id="147" name="Divider 1 priority"/>
          <p:cNvSpPr/>
          <p:nvPr/>
        </p:nvSpPr>
        <p:spPr>
          <a:xfrm>
            <a:off x="6172960" y="45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8" name="Field 1 due_date"/>
          <p:cNvSpPr/>
          <p:nvPr/>
        </p:nvSpPr>
        <p:spPr>
          <a:xfrm>
            <a:off x="6172960" y="456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</a:t>
            </a:r>
            <a:endParaRPr lang="en-US" sz="1100" dirty="0"/>
          </a:p>
        </p:txBody>
      </p:sp>
      <p:sp>
        <p:nvSpPr>
          <p:cNvPr id="149" name="Desc 1 due_date"/>
          <p:cNvSpPr/>
          <p:nvPr/>
        </p:nvSpPr>
        <p:spPr>
          <a:xfrm>
            <a:off x="7722960" y="456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</a:t>
            </a:r>
            <a:endParaRPr lang="en-US" sz="1100" dirty="0"/>
          </a:p>
        </p:txBody>
      </p:sp>
      <p:sp>
        <p:nvSpPr>
          <p:cNvPr id="150" name="Divider 1 due_date"/>
          <p:cNvSpPr/>
          <p:nvPr/>
        </p:nvSpPr>
        <p:spPr>
          <a:xfrm>
            <a:off x="6172960" y="488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1" name="Field 1 general_note"/>
          <p:cNvSpPr/>
          <p:nvPr/>
        </p:nvSpPr>
        <p:spPr>
          <a:xfrm>
            <a:off x="6172960" y="488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general_note</a:t>
            </a:r>
            <a:endParaRPr lang="en-US" sz="1100" dirty="0"/>
          </a:p>
        </p:txBody>
      </p:sp>
      <p:sp>
        <p:nvSpPr>
          <p:cNvPr id="152" name="Desc 1 general_note"/>
          <p:cNvSpPr/>
          <p:nvPr/>
        </p:nvSpPr>
        <p:spPr>
          <a:xfrm>
            <a:off x="7722960" y="488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(free text)</a:t>
            </a:r>
            <a:endParaRPr lang="en-US" sz="1100" dirty="0"/>
          </a:p>
        </p:txBody>
      </p:sp>
      <p:sp>
        <p:nvSpPr>
          <p:cNvPr id="153" name="Divider 1 general_note"/>
          <p:cNvSpPr/>
          <p:nvPr/>
        </p:nvSpPr>
        <p:spPr>
          <a:xfrm>
            <a:off x="6172960" y="520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4" name="Field 1 reported_by"/>
          <p:cNvSpPr/>
          <p:nvPr/>
        </p:nvSpPr>
        <p:spPr>
          <a:xfrm>
            <a:off x="6172960" y="520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reported_by</a:t>
            </a:r>
            <a:endParaRPr lang="en-US" sz="1100" dirty="0"/>
          </a:p>
        </p:txBody>
      </p:sp>
      <p:sp>
        <p:nvSpPr>
          <p:cNvPr id="155" name="Desc 1 reported_by"/>
          <p:cNvSpPr/>
          <p:nvPr/>
        </p:nvSpPr>
        <p:spPr>
          <a:xfrm>
            <a:off x="7722960" y="520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By - who requested the change</a:t>
            </a:r>
            <a:endParaRPr lang="en-US" sz="1100" dirty="0"/>
          </a:p>
        </p:txBody>
      </p:sp>
      <p:sp>
        <p:nvSpPr>
          <p:cNvPr id="156" name="Divider 1 reported_by"/>
          <p:cNvSpPr/>
          <p:nvPr/>
        </p:nvSpPr>
        <p:spPr>
          <a:xfrm>
            <a:off x="6172960" y="552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7" name="Field 1 reason_code"/>
          <p:cNvSpPr/>
          <p:nvPr/>
        </p:nvSpPr>
        <p:spPr>
          <a:xfrm>
            <a:off x="6172960" y="552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reason_code</a:t>
            </a:r>
            <a:endParaRPr lang="en-US" sz="1100" dirty="0"/>
          </a:p>
        </p:txBody>
      </p:sp>
      <p:sp>
        <p:nvSpPr>
          <p:cNvPr id="158" name="Desc 1 reason_code"/>
          <p:cNvSpPr/>
          <p:nvPr/>
        </p:nvSpPr>
        <p:spPr>
          <a:xfrm>
            <a:off x="7722960" y="552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Code combo, Quality section - real QCReasonCode class</a:t>
            </a:r>
            <a:endParaRPr lang="en-US" sz="1100" dirty="0"/>
          </a:p>
        </p:txBody>
      </p:sp>
      <p:sp>
        <p:nvSpPr>
          <p:cNvPr id="159" name="Divider 1 reason_code"/>
          <p:cNvSpPr/>
          <p:nvPr/>
        </p:nvSpPr>
        <p:spPr>
          <a:xfrm>
            <a:off x="6172960" y="584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" name="Field 1 cause_code"/>
          <p:cNvSpPr/>
          <p:nvPr/>
        </p:nvSpPr>
        <p:spPr>
          <a:xfrm>
            <a:off x="6172960" y="5846080"/>
            <a:ext cx="145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cause_code</a:t>
            </a:r>
            <a:endParaRPr lang="en-US" sz="1100" dirty="0"/>
          </a:p>
        </p:txBody>
      </p:sp>
      <p:sp>
        <p:nvSpPr>
          <p:cNvPr id="161" name="Desc 1 cause_code"/>
          <p:cNvSpPr/>
          <p:nvPr/>
        </p:nvSpPr>
        <p:spPr>
          <a:xfrm>
            <a:off x="7722960" y="5846080"/>
            <a:ext cx="34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Code combo, Quality section - real QCCauseCode class</a:t>
            </a:r>
            <a:endParaRPr lang="en-US" sz="1100" dirty="0"/>
          </a:p>
        </p:txBody>
      </p:sp>
      <p:sp>
        <p:nvSpPr>
          <p:cNvPr id="162" name="Divider 1 cause_code"/>
          <p:cNvSpPr/>
          <p:nvPr/>
        </p:nvSpPr>
        <p:spPr>
          <a:xfrm>
            <a:off x="6172960" y="6166080"/>
            <a:ext cx="49500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the BRD calls out as needing their own field — not part of the Create Change Request carryover.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fields — new, not carried over from Create Change Request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16373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field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986693" y="2926080"/>
            <a:ext cx="738204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328416"/>
            <a:ext cx="10545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822960" y="3419856"/>
            <a:ext cx="10545775" cy="400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932688" y="3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(job_num)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986693" y="3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 lookup (SLMatltrans/RefNum) — already built and on the form.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2960" y="3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932688" y="38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# (serial_num)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986693" y="38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built; previously just copied into the Notes section on the legacy 3-form process.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822960" y="42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932688" y="42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# (lot_num)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986693" y="42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Free-text field (char, 50) — already built, same as Serial #.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2960" y="46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932688" y="46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Level PN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86693" y="46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needs a new column, IDO property, and form control.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" y="50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932688" y="50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Assembly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986693" y="50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built — open question whether this is the same concept as the existing next_assy_item (Next Level Assembly) or a distinct field.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822960" y="54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932688" y="5419856"/>
            <a:ext cx="3054005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(item)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986693" y="5419856"/>
            <a:ext cx="7290603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built as the Item combo — covered on the previous Design slide.</a:t>
            </a:r>
            <a:endParaRPr lang="en-US" sz="1300" dirty="0"/>
          </a:p>
        </p:txBody>
      </p:sp>
      <p:sp>
        <p:nvSpPr>
          <p:cNvPr id="101" name="Shape 101"/>
          <p:cNvSpPr/>
          <p:nvPr/>
        </p:nvSpPr>
        <p:spPr>
          <a:xfrm>
            <a:off x="822960" y="5819856"/>
            <a:ext cx="10545775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wr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Develop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staging / TRN first.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build steps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SQL table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</a:t>
            </a: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ue_ecmrs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IDO - properties bulk-appended from CSV</a:t>
            </a:r>
            <a:endParaRPr lang="en-US" sz="1500" dirty="0"/>
          </a:p>
          <a:p>
            <a:pPr marL="228600" indent="-228600">
              <a:buSzPct val="100000"/>
              <a:buChar char="■"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cmr_num</a:t>
            </a: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auto-number set in the IDO properties - increments every CMR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checkbox cascade logic</a:t>
            </a: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Syteline Tip &amp; Tricks (Review for technique on po creation)</a:t>
            </a:r>
            <a:endParaRPr lang="en-US" sz="1500" dirty="0">
              <a:solidFill>
                <a:srgbClr val="FF0000"/>
              </a:solidFill>
            </a:endParaRPr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the form XML through Form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Staging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the staged build and run final validation before production.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1379" y="2200317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staging approach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SQL table, then the IDO - Use AI to build the form in XML &amp; use Form Sync for imports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584448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584448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exports/eCMRs_v1.XML via Form Sync only after the IDO is checked in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242816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242816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TRN first – then in production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22960" y="4901184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234440" y="4901184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TRN test checklist before go-live: create path, persistence round-trip, Requirements checkbox cascade</a:t>
            </a:r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E87F5528-7C19-A626-5DA9-34357D16047F}"/>
              </a:ext>
            </a:extLst>
          </p:cNvPr>
          <p:cNvSpPr/>
          <p:nvPr/>
        </p:nvSpPr>
        <p:spPr>
          <a:xfrm>
            <a:off x="822960" y="5559552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9247ABB6-B95A-4F45-624C-0F3FAF63C6A8}"/>
              </a:ext>
            </a:extLst>
          </p:cNvPr>
          <p:cNvSpPr/>
          <p:nvPr/>
        </p:nvSpPr>
        <p:spPr>
          <a:xfrm>
            <a:off x="1188720" y="5542449"/>
            <a:ext cx="10134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on procedure documentation changes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27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194560" y="621792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Migrating the old CMR data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94560" y="13258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D decision that is still open — two options on the table.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77240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the history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historical CMR data from 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rs_cmr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3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rs_crcvr</a:t>
            </a: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the new table. Every field becomes its own real column on the standalone table, mapped per field-mapping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965960"/>
            <a:ext cx="5501488" cy="1691640"/>
          </a:xfrm>
          <a:prstGeom prst="roundRect">
            <a:avLst>
              <a:gd name="adj" fmla="val 6486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53048" y="2203704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fresh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53048" y="2587752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goes live with new CMRs only. Legacy history stays queryable through the old screens and tables.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95344"/>
            <a:ext cx="11277295" cy="2514600"/>
          </a:xfrm>
          <a:prstGeom prst="roundRect">
            <a:avLst>
              <a:gd name="adj" fmla="val 4364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we’ll migrate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450799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50799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Numbering: cmr_num just needs to be a unique auto-generated value — migrated rows get a fresh one on insert, like any new CMR.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05663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05663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mapping: every rs_cmr/rs_crcvr column copies to its own real column on ue_ecmrs, per docs/field-mapping.md — no join back.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5605272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34440" y="5605272"/>
            <a:ext cx="10134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Load: a one-time script inserts each mapped row directly into ue_ecmrs — never a live join, never a client-computed key.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3" name="Image 0" descr="icons/ro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8458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19456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Launch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219456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production.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D decisions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34440" y="292608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eCMRs replaces CMR form, create change request and change request management forms, it runs alongside it until the CMR form is retired once eCMRs is proven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370332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234440" y="370332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 historical CMR data from rs_cmr/rs_crcvr, or start fresh with legacy history queryable through the old screens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22960" y="448056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34440" y="4480560"/>
            <a:ext cx="10134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Create Change Request, Change Request Management, and CMRs once live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Test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tests to make sure everything looks good.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199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Phase C test list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926080"/>
            <a:ext cx="1054577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CMR end-to-end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and reopen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numbering has no race condition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flow meets requirements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all fields + lookup fields work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5486400" cy="5486400"/>
          </a:xfrm>
          <a:prstGeom prst="ellipse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10048" y="50292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CF0C2C"/>
          </a:solidFill>
          <a:ln w="12700">
            <a:solidFill>
              <a:srgbClr val="CF0C2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icons/ge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948" y="845820"/>
            <a:ext cx="685800" cy="685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CF0C2C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Optimize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371600" y="288036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weeks of optimization, working closely with the in-house team.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57200" y="3749040"/>
            <a:ext cx="11277295" cy="2651760"/>
          </a:xfrm>
          <a:prstGeom prst="roundRect">
            <a:avLst>
              <a:gd name="adj" fmla="val 4138"/>
            </a:avLst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22960" y="40416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optimization backlog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105457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and track all issues with each team using the form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any bugs &amp; no critical paths are blocking us from normal work flows</a:t>
            </a:r>
          </a:p>
          <a:p>
            <a:pPr marL="228600" indent="-228600">
              <a:buSzPct val="100000"/>
              <a:buChar char="■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procedures for manager approval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9539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dirty="0">
                <a:solidFill>
                  <a:srgbClr val="1A1A1A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Design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216152"/>
            <a:ext cx="9539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eCMRs screen actually looks like, with the additional and Change Request fields shown in place above Quality.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362895" y="502920"/>
            <a:ext cx="137160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icons/penc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795" y="845820"/>
            <a:ext cx="685800" cy="685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148840"/>
            <a:ext cx="11277295" cy="4251960"/>
          </a:xfrm>
          <a:prstGeom prst="roundRect">
            <a:avLst>
              <a:gd name="adj" fmla="val 2581"/>
            </a:avLst>
          </a:prstGeom>
          <a:noFill/>
          <a:ln>
            <a:noFill/>
          </a:ln>
        </p:spPr>
        <p:txBody>
          <a:bodyPr/>
          <a:lstStyle/>
          <a:p>
            <a:endParaRPr lang="en-US" dirty="0"/>
          </a:p>
        </p:txBody>
      </p:sp>
      <p:pic>
        <p:nvPicPr>
          <p:cNvPr id="50" name="eCMRs Form Mockup" descr="eCMRs form mockup screensh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4652" y="2148840"/>
            <a:ext cx="2862695" cy="4251960"/>
          </a:xfrm>
          <a:prstGeom prst="rect">
            <a:avLst/>
          </a:prstGeom>
          <a:ln w="9525">
            <a:solidFill>
              <a:srgbClr val="E5E5E5"/>
            </a:solidFill>
            <a:prstDash val="solid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7E6E6"/>
      </a:lt2>
      <a:accent1>
        <a:srgbClr val="CF0C2C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1419</TotalTime>
  <Words>1268</Words>
  <Application>Microsoft Office PowerPoint</Application>
  <PresentationFormat>Widescreen</PresentationFormat>
  <Paragraphs>168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Jake Smith</cp:lastModifiedBy>
  <cp:revision>19</cp:revision>
  <dcterms:created xsi:type="dcterms:W3CDTF">2026-09-21T13:20:12Z</dcterms:created>
  <dcterms:modified xsi:type="dcterms:W3CDTF">2026-09-24T00:59:23Z</dcterms:modified>
</cp:coreProperties>
</file>